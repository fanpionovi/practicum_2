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1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6e2e690d48d4d2f" /><Relationship Type="http://schemas.openxmlformats.org/officeDocument/2006/relationships/extended-properties" Target="/docProps/app.xml" Id="R1816493c66b54e6a" /><Relationship Type="http://schemas.openxmlformats.org/officeDocument/2006/relationships/officeDocument" Target="/ppt/presentation.xml" Id="R92f641a760e1451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efafde4dafd4ba0"/>
  </p:sldMasterIdLst>
  <p:notesMasterIdLst>
    <p:notesMasterId xmlns:r="http://schemas.openxmlformats.org/officeDocument/2006/relationships" r:id="Rf82ee27b325640d3"/>
  </p:notesMasterIdLst>
  <p:sldIdLst>
    <p:sldId xmlns:r="http://schemas.openxmlformats.org/officeDocument/2006/relationships" id="256" r:id="Rcdd04d61d26d495f"/>
    <p:sldId xmlns:r="http://schemas.openxmlformats.org/officeDocument/2006/relationships" id="257" r:id="R4da25e1cd1b94c9f"/>
    <p:sldId xmlns:r="http://schemas.openxmlformats.org/officeDocument/2006/relationships" id="258" r:id="R90c2725b6ada4acd"/>
    <p:sldId xmlns:r="http://schemas.openxmlformats.org/officeDocument/2006/relationships" id="259" r:id="R54fb9e09b1ed4c63"/>
    <p:sldId xmlns:r="http://schemas.openxmlformats.org/officeDocument/2006/relationships" id="260" r:id="R375f056013f44ee3"/>
    <p:sldId xmlns:r="http://schemas.openxmlformats.org/officeDocument/2006/relationships" id="261" r:id="Re2d32f1b84754486"/>
    <p:sldId xmlns:r="http://schemas.openxmlformats.org/officeDocument/2006/relationships" id="262" r:id="R91d86efdd33647d8"/>
    <p:sldId xmlns:r="http://schemas.openxmlformats.org/officeDocument/2006/relationships" id="263" r:id="Rf5ae667b1cfe4109"/>
    <p:sldId xmlns:r="http://schemas.openxmlformats.org/officeDocument/2006/relationships" id="264" r:id="Rde0e4b128ee64cab"/>
    <p:sldId xmlns:r="http://schemas.openxmlformats.org/officeDocument/2006/relationships" id="265" r:id="R85403b997715439c"/>
    <p:sldId xmlns:r="http://schemas.openxmlformats.org/officeDocument/2006/relationships" id="266" r:id="Rbd8f12282999409a"/>
    <p:sldId xmlns:r="http://schemas.openxmlformats.org/officeDocument/2006/relationships" id="267" r:id="Rf7ddaf6af82d44d2"/>
    <p:sldId xmlns:r="http://schemas.openxmlformats.org/officeDocument/2006/relationships" id="268" r:id="Ra92cc670f4c24ce1"/>
    <p:sldId xmlns:r="http://schemas.openxmlformats.org/officeDocument/2006/relationships" id="269" r:id="R4d61d22e97114f4a"/>
    <p:sldId xmlns:r="http://schemas.openxmlformats.org/officeDocument/2006/relationships" id="270" r:id="R2d25117aef5b4360"/>
    <p:sldId xmlns:r="http://schemas.openxmlformats.org/officeDocument/2006/relationships" id="271" r:id="Rbda4c76356d04889"/>
    <p:sldId xmlns:r="http://schemas.openxmlformats.org/officeDocument/2006/relationships" id="272" r:id="R3548bdbb5dc5416c"/>
    <p:sldId xmlns:r="http://schemas.openxmlformats.org/officeDocument/2006/relationships" id="273" r:id="R2d05f2dba758411c"/>
    <p:sldId xmlns:r="http://schemas.openxmlformats.org/officeDocument/2006/relationships" id="274" r:id="Rc52d32b89ef34983"/>
    <p:sldId xmlns:r="http://schemas.openxmlformats.org/officeDocument/2006/relationships" id="275" r:id="Rb60c9839ab92432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12bb3c767eb472a" /><Relationship Type="http://schemas.openxmlformats.org/officeDocument/2006/relationships/slideMaster" Target="/ppt/slideMasters/slideMaster1.xml" Id="R1efafde4dafd4ba0" /><Relationship Type="http://schemas.openxmlformats.org/officeDocument/2006/relationships/notesMaster" Target="/ppt/notesMasters/notesMaster1.xml" Id="Rf82ee27b325640d3" /><Relationship Type="http://schemas.openxmlformats.org/officeDocument/2006/relationships/presProps" Target="/ppt/presProps.xml" Id="R9d658bdb45284f56" /><Relationship Type="http://schemas.openxmlformats.org/officeDocument/2006/relationships/tableStyles" Target="/ppt/tableStyles.xml" Id="R629311f1a86f4146" /><Relationship Type="http://schemas.openxmlformats.org/officeDocument/2006/relationships/slide" Target="/ppt/slides/slide1.xml" Id="Rcdd04d61d26d495f" /><Relationship Type="http://schemas.openxmlformats.org/officeDocument/2006/relationships/slide" Target="/ppt/slides/slide2.xml" Id="R4da25e1cd1b94c9f" /><Relationship Type="http://schemas.openxmlformats.org/officeDocument/2006/relationships/slide" Target="/ppt/slides/slide3.xml" Id="R90c2725b6ada4acd" /><Relationship Type="http://schemas.openxmlformats.org/officeDocument/2006/relationships/slide" Target="/ppt/slides/slide4.xml" Id="R54fb9e09b1ed4c63" /><Relationship Type="http://schemas.openxmlformats.org/officeDocument/2006/relationships/slide" Target="/ppt/slides/slide5.xml" Id="R375f056013f44ee3" /><Relationship Type="http://schemas.openxmlformats.org/officeDocument/2006/relationships/slide" Target="/ppt/slides/slide6.xml" Id="Re2d32f1b84754486" /><Relationship Type="http://schemas.openxmlformats.org/officeDocument/2006/relationships/slide" Target="/ppt/slides/slide7.xml" Id="R91d86efdd33647d8" /><Relationship Type="http://schemas.openxmlformats.org/officeDocument/2006/relationships/slide" Target="/ppt/slides/slide8.xml" Id="Rf5ae667b1cfe4109" /><Relationship Type="http://schemas.openxmlformats.org/officeDocument/2006/relationships/slide" Target="/ppt/slides/slide9.xml" Id="Rde0e4b128ee64cab" /><Relationship Type="http://schemas.openxmlformats.org/officeDocument/2006/relationships/slide" Target="/ppt/slides/slide10.xml" Id="R85403b997715439c" /><Relationship Type="http://schemas.openxmlformats.org/officeDocument/2006/relationships/slide" Target="/ppt/slides/slide11.xml" Id="Rbd8f12282999409a" /><Relationship Type="http://schemas.openxmlformats.org/officeDocument/2006/relationships/slide" Target="/ppt/slides/slide12.xml" Id="Rf7ddaf6af82d44d2" /><Relationship Type="http://schemas.openxmlformats.org/officeDocument/2006/relationships/slide" Target="/ppt/slides/slide13.xml" Id="Ra92cc670f4c24ce1" /><Relationship Type="http://schemas.openxmlformats.org/officeDocument/2006/relationships/slide" Target="/ppt/slides/slide14.xml" Id="R4d61d22e97114f4a" /><Relationship Type="http://schemas.openxmlformats.org/officeDocument/2006/relationships/slide" Target="/ppt/slides/slide15.xml" Id="R2d25117aef5b4360" /><Relationship Type="http://schemas.openxmlformats.org/officeDocument/2006/relationships/slide" Target="/ppt/slides/slide16.xml" Id="Rbda4c76356d04889" /><Relationship Type="http://schemas.openxmlformats.org/officeDocument/2006/relationships/slide" Target="/ppt/slides/slide17.xml" Id="R3548bdbb5dc5416c" /><Relationship Type="http://schemas.openxmlformats.org/officeDocument/2006/relationships/slide" Target="/ppt/slides/slide18.xml" Id="R2d05f2dba758411c" /><Relationship Type="http://schemas.openxmlformats.org/officeDocument/2006/relationships/slide" Target="/ppt/slides/slide19.xml" Id="Rc52d32b89ef34983" /><Relationship Type="http://schemas.openxmlformats.org/officeDocument/2006/relationships/slide" Target="/ppt/slides/slide20.xml" Id="Rb60c9839ab92432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a4955026537488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bf86d13a983477c" /><Relationship Type="http://schemas.openxmlformats.org/officeDocument/2006/relationships/notesMaster" Target="/ppt/notesMasters/notesMaster1.xml" Id="R95549bab6b09484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a13dc9882e84b4a" /><Relationship Type="http://schemas.openxmlformats.org/officeDocument/2006/relationships/notesMaster" Target="/ppt/notesMasters/notesMaster1.xml" Id="R307ed04f24ef43d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09277fc620947b4" /><Relationship Type="http://schemas.openxmlformats.org/officeDocument/2006/relationships/notesMaster" Target="/ppt/notesMasters/notesMaster1.xml" Id="Rbf743c1585c54d5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dc0195c61e14bfc" /><Relationship Type="http://schemas.openxmlformats.org/officeDocument/2006/relationships/notesMaster" Target="/ppt/notesMasters/notesMaster1.xml" Id="R143efbac0b544cd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7e618a7918e4268" /><Relationship Type="http://schemas.openxmlformats.org/officeDocument/2006/relationships/notesMaster" Target="/ppt/notesMasters/notesMaster1.xml" Id="R13186e249d1a4f0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e912725a2744c21" /><Relationship Type="http://schemas.openxmlformats.org/officeDocument/2006/relationships/notesMaster" Target="/ppt/notesMasters/notesMaster1.xml" Id="Ra7796d595fc0464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096e6c09b414e32" /><Relationship Type="http://schemas.openxmlformats.org/officeDocument/2006/relationships/notesMaster" Target="/ppt/notesMasters/notesMaster1.xml" Id="Rceb2c4bed2524d2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1e4b423c3974058" /><Relationship Type="http://schemas.openxmlformats.org/officeDocument/2006/relationships/notesMaster" Target="/ppt/notesMasters/notesMaster1.xml" Id="R4f8de178b99d456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0006e2925f3462d" /><Relationship Type="http://schemas.openxmlformats.org/officeDocument/2006/relationships/notesMaster" Target="/ppt/notesMasters/notesMaster1.xml" Id="R1f9e82c4793247b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c6a1b07644e480d" /><Relationship Type="http://schemas.openxmlformats.org/officeDocument/2006/relationships/notesMaster" Target="/ppt/notesMasters/notesMaster1.xml" Id="R55f9441a29e54ce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4c32fae79134ec6" /><Relationship Type="http://schemas.openxmlformats.org/officeDocument/2006/relationships/notesMaster" Target="/ppt/notesMasters/notesMaster1.xml" Id="Rc4950d987e8c4ef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94a5723382b497e" /><Relationship Type="http://schemas.openxmlformats.org/officeDocument/2006/relationships/notesMaster" Target="/ppt/notesMasters/notesMaster1.xml" Id="R897ba1ed1636457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9d2de63af0d458e" /><Relationship Type="http://schemas.openxmlformats.org/officeDocument/2006/relationships/notesMaster" Target="/ppt/notesMasters/notesMaster1.xml" Id="R471deda30c0b4ee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c40b505834b4a91" /><Relationship Type="http://schemas.openxmlformats.org/officeDocument/2006/relationships/notesMaster" Target="/ppt/notesMasters/notesMaster1.xml" Id="R94a00598958c4a1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fdfa766362c4e57" /><Relationship Type="http://schemas.openxmlformats.org/officeDocument/2006/relationships/notesMaster" Target="/ppt/notesMasters/notesMaster1.xml" Id="R53351c0349a346c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f9adc5bdb384a46" /><Relationship Type="http://schemas.openxmlformats.org/officeDocument/2006/relationships/notesMaster" Target="/ppt/notesMasters/notesMaster1.xml" Id="R8f474b62a421450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3c481bad7954664" /><Relationship Type="http://schemas.openxmlformats.org/officeDocument/2006/relationships/notesMaster" Target="/ppt/notesMasters/notesMaster1.xml" Id="Rf7b0a595e96e411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142ac3f49bb4053" /><Relationship Type="http://schemas.openxmlformats.org/officeDocument/2006/relationships/notesMaster" Target="/ppt/notesMasters/notesMaster1.xml" Id="Rbfd8af807ce14ad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7deb963223d458c" /><Relationship Type="http://schemas.openxmlformats.org/officeDocument/2006/relationships/notesMaster" Target="/ppt/notesMasters/notesMaster1.xml" Id="R2c362b63ba974f4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16ef27064dd49bc" /><Relationship Type="http://schemas.openxmlformats.org/officeDocument/2006/relationships/notesMaster" Target="/ppt/notesMasters/notesMaster1.xml" Id="R31b3546fb4974dc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Внутренний проект: app.py, spam_model.py, README.md</a:t>
            </a:r>
          </a:p>
          <a:p xmlns:a="http://schemas.openxmlformats.org/drawingml/2006/main">
            <a:r>
              <a:t>- Собственный снимок работающего MVP: presentation_build/assets/app-home.png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Внутренние результаты: spam_model.py и tests/test_model.py</a:t>
            </a:r>
          </a:p>
          <a:p xmlns:a="http://schemas.openxmlformats.org/drawingml/2006/main">
            <a:r>
              <a:t>- Функциональность: app.py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Концепция и пользовательская проблема сформулированы на основе сценариев app.py</a:t>
            </a:r>
          </a:p>
          <a:p xmlns:a="http://schemas.openxmlformats.org/drawingml/2006/main">
            <a:r>
              <a:t>- Примеры риск-сигналов: spam_model.py::risk_signals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Авторский портрет ЦА и ограничения продукта: README.md</a:t>
            </a:r>
          </a:p>
          <a:p xmlns:a="http://schemas.openxmlformats.org/drawingml/2006/main">
            <a:r>
              <a:t>- Сценарии единичной и пакетной проверки: app.py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Пользовательский сценарий и способ решения: app.py</a:t>
            </a:r>
          </a:p>
          <a:p xmlns:a="http://schemas.openxmlformats.org/drawingml/2006/main">
            <a:r>
              <a:t>- Концепция объяснимого результата: 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Google Messages: https://support.google.com/messages/answer/9327903?hl=en-GB</a:t>
            </a:r>
          </a:p>
          <a:p xmlns:a="http://schemas.openxmlformats.org/drawingml/2006/main">
            <a:r>
              <a:t>- Apple: https://support.apple.com/en-us/125068</a:t>
            </a:r>
          </a:p>
          <a:p xmlns:a="http://schemas.openxmlformats.org/drawingml/2006/main">
            <a:r>
              <a:t>- Truecaller Premium: https://www.truecaller.com/premium</a:t>
            </a:r>
          </a:p>
          <a:p xmlns:a="http://schemas.openxmlformats.org/drawingml/2006/main">
            <a:r>
              <a:t>- Kaspersky Who Calls: https://www.kaspersky.ru/blog/installation-and-setup-of-kaspersky-who-calls/38547/</a:t>
            </a:r>
          </a:p>
          <a:p xmlns:a="http://schemas.openxmlformats.org/drawingml/2006/main">
            <a:r>
              <a:t>- SpamGuard: README.md и app.py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Функциональность и локальная обработка: app.py и README.md</a:t>
            </a:r>
          </a:p>
          <a:p xmlns:a="http://schemas.openxmlformats.org/drawingml/2006/main">
            <a:r>
              <a:t>- Регулируемый threshold: app.py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ML-пайплайн: spam_model.py</a:t>
            </a:r>
          </a:p>
          <a:p xmlns:a="http://schemas.openxmlformats.org/drawingml/2006/main">
            <a:r>
              <a:t>- Интерфейс вероятности, признаков и threshold: app.py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Реализованные режимы приложения: app.py</a:t>
            </a:r>
          </a:p>
          <a:p xmlns:a="http://schemas.openxmlformats.org/drawingml/2006/main">
            <a:r>
              <a:t>- Ограничение batch = 1000 сообщений: app.py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Собственный снимок MVP: presentation_build/assets/app-home.png</a:t>
            </a:r>
          </a:p>
          <a:p xmlns:a="http://schemas.openxmlformats.org/drawingml/2006/main">
            <a:r>
              <a:t>- Реализация интерфейса: app.py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Собственный снимок результата: presentation_build/assets/app-result.png</a:t>
            </a:r>
          </a:p>
          <a:p xmlns:a="http://schemas.openxmlformats.org/drawingml/2006/main">
            <a:r>
              <a:t>- Расчёт вероятности и сигналов: spam_model.py</a:t>
            </a:r>
          </a:p>
          <a:p xmlns:a="http://schemas.openxmlformats.org/drawingml/2006/main">
            <a:r>
              <a:t>- Визуализация: app.py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UCI SMS Spam Collection: https://archive.ics.uci.edu/dataset/228/sms+spam+collection</a:t>
            </a:r>
          </a:p>
          <a:p xmlns:a="http://schemas.openxmlformats.org/drawingml/2006/main">
            <a:r>
              <a:t>- DmitryKRX/anti_spam_ru: https://huggingface.co/datasets/DmitryKRX/anti_spam_ru</a:t>
            </a:r>
          </a:p>
          <a:p xmlns:a="http://schemas.openxmlformats.org/drawingml/2006/main">
            <a:r>
              <a:t>- Фактическая подготовка данных: spam_model.py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Внутренний расчёт состава: spam_model.py; dataset.groupby(language, label)</a:t>
            </a:r>
          </a:p>
          <a:p xmlns:a="http://schemas.openxmlformats.org/drawingml/2006/main">
            <a:r>
              <a:t>- Данные зафиксированы 01.09.2026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Параметры TfidfVectorizer, FeatureUnion и LogisticRegression: spam_model.py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Зависимости: requirements.txt</a:t>
            </a:r>
          </a:p>
          <a:p xmlns:a="http://schemas.openxmlformats.org/drawingml/2006/main">
            <a:r>
              <a:t>- Архитектура: app.py и spam_model.py</a:t>
            </a:r>
          </a:p>
          <a:p xmlns:a="http://schemas.openxmlformats.org/drawingml/2006/main">
            <a:r>
              <a:t>- Фактический замер обучения/автотестов 01.09.2026: 23–26 с на текущем окружении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Разделение, предсказания и расчёт метрик: spam_model.py</a:t>
            </a:r>
          </a:p>
          <a:p xmlns:a="http://schemas.openxmlformats.org/drawingml/2006/main">
            <a:r>
              <a:t>- Test set фиксирован random_state=42; метрики рассчитаны 01.09.2026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Фактические метрики test set: spam_model.py</a:t>
            </a:r>
          </a:p>
          <a:p xmlns:a="http://schemas.openxmlformats.org/drawingml/2006/main">
            <a:r>
              <a:t>- Значения: accuracy=0.974436; precision=0.976162; recall=0.949565; f1=0.962680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Матрица ошибок и метрики по языкам: spam_model.py</a:t>
            </a:r>
          </a:p>
          <a:p xmlns:a="http://schemas.openxmlformats.org/drawingml/2006/main">
            <a:r>
              <a:t>- Фактическая matrix=[[3203,40],[87,1638]]; by_language рассчитано 01.09.2026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Автотесты: tests/test_model.py; запуск 01.09.2026 — OK, 4/4</a:t>
            </a:r>
          </a:p>
          <a:p xmlns:a="http://schemas.openxmlformats.org/drawingml/2006/main">
            <a:r>
              <a:t>- UI и исправление KeyError: app.py и ui_text.py</a:t>
            </a:r>
          </a:p>
          <a:p xmlns:a="http://schemas.openxmlformats.org/drawingml/2006/main">
            <a:r>
              <a:t>- Снимки состояний: presentation_build/assets/app-home.png, app-result.png, app-analytics.png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Критерии защиты предоставлены в задании пользователя</a:t>
            </a:r>
          </a:p>
          <a:p xmlns:a="http://schemas.openxmlformats.org/drawingml/2006/main">
            <a:r>
              <a:t>- Сводные доказательства: app.py, spam_model.py, tests/test_model.py, 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9c275ecce24b0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12284d280c54b1f" /><Relationship Type="http://schemas.openxmlformats.org/officeDocument/2006/relationships/slideLayout" Target="/ppt/slideLayouts/slideLayout1.xml" Id="Ra7efb6b50748449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7efb6b50748449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f6c3ed3e82412d" /><Relationship Type="http://schemas.openxmlformats.org/officeDocument/2006/relationships/image" Target="/ppt/media/image.jpeg" Id="Rba3492e105dc4418" /><Relationship Type="http://schemas.openxmlformats.org/officeDocument/2006/relationships/notesSlide" Target="/ppt/notesSlides/notesSlide1.xml" Id="Rdf8caefa1f1f410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7c0446cd604afc" /><Relationship Type="http://schemas.openxmlformats.org/officeDocument/2006/relationships/notesSlide" Target="/ppt/notesSlides/notesSlide2.xml" Id="R7efcf47157fe4d7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774b8d43a1409b" /><Relationship Type="http://schemas.openxmlformats.org/officeDocument/2006/relationships/notesSlide" Target="/ppt/notesSlides/notesSlide3.xml" Id="R122beeb0d108448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a8634141aa4c18" /><Relationship Type="http://schemas.openxmlformats.org/officeDocument/2006/relationships/notesSlide" Target="/ppt/notesSlides/notesSlide4.xml" Id="Rc7606b5937a6460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077fce862a4e59" /><Relationship Type="http://schemas.openxmlformats.org/officeDocument/2006/relationships/notesSlide" Target="/ppt/notesSlides/notesSlide5.xml" Id="Rd90d47e4fc294a3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a4d7bd6b7b4bee" /><Relationship Type="http://schemas.openxmlformats.org/officeDocument/2006/relationships/notesSlide" Target="/ppt/notesSlides/notesSlide6.xml" Id="R8a36d6efc3aa42a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809c7d93d743ac" /><Relationship Type="http://schemas.openxmlformats.org/officeDocument/2006/relationships/notesSlide" Target="/ppt/notesSlides/notesSlide7.xml" Id="Rbd29c6e6c20f461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4b3e0547f04b83" /><Relationship Type="http://schemas.openxmlformats.org/officeDocument/2006/relationships/notesSlide" Target="/ppt/notesSlides/notesSlide8.xml" Id="R267266aff00e4ba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a58f331f094dbf" /><Relationship Type="http://schemas.openxmlformats.org/officeDocument/2006/relationships/notesSlide" Target="/ppt/notesSlides/notesSlide9.xml" Id="Rbf3db72f94f04c7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b54fc2db4d4a6e" /><Relationship Type="http://schemas.openxmlformats.org/officeDocument/2006/relationships/image" Target="/ppt/media/image2.jpeg" Id="Refc41ad718b94032" /><Relationship Type="http://schemas.openxmlformats.org/officeDocument/2006/relationships/notesSlide" Target="/ppt/notesSlides/notesSlide10.xml" Id="Rbedb0016465f493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018769bf994307" /><Relationship Type="http://schemas.openxmlformats.org/officeDocument/2006/relationships/image" Target="/ppt/media/image3.jpeg" Id="Rc45e3483e8ff481e" /><Relationship Type="http://schemas.openxmlformats.org/officeDocument/2006/relationships/notesSlide" Target="/ppt/notesSlides/notesSlide11.xml" Id="Rc909d2e705ee482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13678269a74d46" /><Relationship Type="http://schemas.openxmlformats.org/officeDocument/2006/relationships/notesSlide" Target="/ppt/notesSlides/notesSlide12.xml" Id="R9ddd331973da4c7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2feb6dce434295" /><Relationship Type="http://schemas.openxmlformats.org/officeDocument/2006/relationships/chart" Target="/ppt/slides/charts/chart1.xml" Id="Rd2234246bd23433d" /><Relationship Type="http://schemas.openxmlformats.org/officeDocument/2006/relationships/notesSlide" Target="/ppt/notesSlides/notesSlide13.xml" Id="Rc4e3b0ae6a284d5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8cd108791347fb" /><Relationship Type="http://schemas.openxmlformats.org/officeDocument/2006/relationships/notesSlide" Target="/ppt/notesSlides/notesSlide14.xml" Id="Rf837713866cb457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4efe5f696f4e0d" /><Relationship Type="http://schemas.openxmlformats.org/officeDocument/2006/relationships/notesSlide" Target="/ppt/notesSlides/notesSlide15.xml" Id="R8c0916a02b5847f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364867105d4ad9" /><Relationship Type="http://schemas.openxmlformats.org/officeDocument/2006/relationships/notesSlide" Target="/ppt/notesSlides/notesSlide16.xml" Id="Rcb43f46fb1de405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151243fb3445e3" /><Relationship Type="http://schemas.openxmlformats.org/officeDocument/2006/relationships/notesSlide" Target="/ppt/notesSlides/notesSlide17.xml" Id="Raed6cdb7a19f43d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73740099814e03" /><Relationship Type="http://schemas.openxmlformats.org/officeDocument/2006/relationships/notesSlide" Target="/ppt/notesSlides/notesSlide18.xml" Id="Rafb912c1d8a7488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6ec873266044cc" /><Relationship Type="http://schemas.openxmlformats.org/officeDocument/2006/relationships/notesSlide" Target="/ppt/notesSlides/notesSlide19.xml" Id="Rfe302853406c421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5eeac5a04749a6" /><Relationship Type="http://schemas.openxmlformats.org/officeDocument/2006/relationships/notesSlide" Target="/ppt/notesSlides/notesSlide20.xml" Id="R980abed1a1c749d7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ham</c:v>
          </c:tx>
          <c:spPr>
            <a:solidFill xmlns:a="http://schemas.openxmlformats.org/drawingml/2006/main">
              <a:srgbClr val="6DCBF4"/>
            </a:solidFill>
          </c:spPr>
          <c:cat>
            <c:strLit>
              <c:ptCount val="3"/>
              <c:pt idx="0">
                <c:v>Русский</c:v>
              </c:pt>
              <c:pt idx="1">
                <c:v>English</c:v>
              </c:pt>
              <c:pt idx="2">
                <c:v>Español</c:v>
              </c:pt>
            </c:strLit>
          </c:cat>
          <c:val>
            <c:numLit>
              <c:formatCode>#,##0</c:formatCode>
              <c:ptCount val="3"/>
              <c:pt idx="0">
                <c:v>11658</c:v>
              </c:pt>
              <c:pt idx="1">
                <c:v>4515</c:v>
              </c:pt>
              <c:pt idx="2">
                <c:v>42</c:v>
              </c:pt>
            </c:numLit>
          </c:val>
        </c:ser>
        <c:ser>
          <c:idx val="1"/>
          <c:order val="1"/>
          <c:tx>
            <c:v>spam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3"/>
              <c:pt idx="0">
                <c:v>Русский</c:v>
              </c:pt>
              <c:pt idx="1">
                <c:v>English</c:v>
              </c:pt>
              <c:pt idx="2">
                <c:v>Español</c:v>
              </c:pt>
            </c:strLit>
          </c:cat>
          <c:val>
            <c:numLit>
              <c:formatCode>#,##0</c:formatCode>
              <c:ptCount val="3"/>
              <c:pt idx="0">
                <c:v>7936</c:v>
              </c:pt>
              <c:pt idx="1">
                <c:v>642</c:v>
              </c:pt>
              <c:pt idx="2">
                <c:v>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11318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8CD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11318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9EDF2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E6572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5E6572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CDA917-9EA5-40C9-9B6E-BECD37709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C08CAD-E490-474F-A4FC-2EEC7664A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ПРОЕКТНЫЙ ПРАКТИКУМ • MVP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A55879-9462-4C48-8939-563305E77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28700"/>
            <a:ext cx="514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11318"/>
                </a:solidFill>
              </a:defRPr>
            </a:pPr>
            <a:r>
              <a:rPr sz="4350" b="1">
                <a:solidFill>
                  <a:srgbClr val="111318"/>
                </a:solidFill>
              </a:rPr>
              <a:t>SpamGuard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47DE5A-FB66-43CD-9665-6E45D25B0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4953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E3A66"/>
                </a:solidFill>
              </a:defRPr>
            </a:pPr>
            <a:r>
              <a:rPr sz="2250" b="1">
                <a:solidFill>
                  <a:srgbClr val="0E3A66"/>
                </a:solidFill>
              </a:rPr>
              <a:t>Мультиязычная проверка сообщений на спам — локально, понятно и за секунды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093E6B-324F-4FA6-A453-344274268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671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572"/>
                </a:solidFill>
              </a:defRPr>
            </a:pPr>
            <a:r>
              <a:rPr sz="1500" b="0">
                <a:solidFill>
                  <a:srgbClr val="5E6572"/>
                </a:solidFill>
              </a:rPr>
              <a:t>Русский • English • Español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A01C3D-022B-4244-B1C1-7B6F5EAEB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05300"/>
            <a:ext cx="1847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54D30F-B5D6-4621-A931-C0F2995DC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71975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D9D78"/>
                </a:solidFill>
              </a:defRPr>
            </a:pPr>
            <a:r>
              <a:rPr sz="1050" b="1">
                <a:solidFill>
                  <a:srgbClr val="2D9D78"/>
                </a:solidFill>
              </a:rPr>
              <a:t>РАБОТАЮЩИЙ MVP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3EAFE0-D49B-4A56-AEAE-32D1A7714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305300"/>
            <a:ext cx="1428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46AA49-9C78-4200-BB59-81A41588D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71975"/>
            <a:ext cx="120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E3A66"/>
                </a:solidFill>
              </a:defRPr>
            </a:pPr>
            <a:r>
              <a:rPr sz="1050" b="1">
                <a:solidFill>
                  <a:srgbClr val="0E3A66"/>
                </a:solidFill>
              </a:rPr>
              <a:t>F1 = 96,3%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49B85E-FB7C-4606-A355-AB35D6E73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95850"/>
            <a:ext cx="4857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572"/>
                </a:solidFill>
              </a:defRPr>
            </a:pPr>
            <a:r>
              <a:rPr sz="1350" b="0">
                <a:solidFill>
                  <a:srgbClr val="5E6572"/>
                </a:solidFill>
              </a:rPr>
              <a:t>Классификация SMS, писем и сообщений</a:t>
            </a:r>
          </a:p>
          <a:p xmlns:a="http://schemas.openxmlformats.org/drawingml/2006/main">
            <a:pPr algn="l">
              <a:defRPr sz="1350" b="0">
                <a:solidFill>
                  <a:srgbClr val="5E6572"/>
                </a:solidFill>
              </a:defRPr>
            </a:pPr>
            <a:r>
              <a:rPr sz="1350" b="0">
                <a:solidFill>
                  <a:srgbClr val="5E6572"/>
                </a:solidFill>
              </a:rPr>
              <a:t>TF-IDF + Logistic Regression • Streamlit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12F21B-455E-40A7-9D9B-461EECB72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171450"/>
            <a:ext cx="6286500" cy="6286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5F7FA1-EA43-4687-8EE6-128F58570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7200"/>
            <a:ext cx="5010150" cy="5562600"/>
          </a:xfrm>
          <a:prstGeom xmlns:a="http://schemas.openxmlformats.org/drawingml/2006/main" prst="roundRect">
            <a:avLst>
              <a:gd name="adj" fmla="val 4563"/>
            </a:avLst>
          </a:prstGeom>
          <a:solidFill xmlns:a="http://schemas.openxmlformats.org/drawingml/2006/main">
            <a:srgbClr val="E9EDF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3492e105dc4418"/>
          <a:srcRect xmlns:a="http://schemas.openxmlformats.org/drawingml/2006/main" l="6320" t="0" r="632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96050" y="533400"/>
            <a:ext cx="4857750" cy="5410200"/>
          </a:xfrm>
          <a:prstGeom xmlns:a="http://schemas.openxmlformats.org/drawingml/2006/main" prst="roundRect">
            <a:avLst>
              <a:gd name="adj" fmla="val 3137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26B359-A169-4652-BB12-95F7CBD6A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627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8F96A3"/>
                </a:solidFill>
              </a:defRPr>
            </a:pPr>
            <a:r>
              <a:rPr sz="975" b="0">
                <a:solidFill>
                  <a:srgbClr val="8F96A3"/>
                </a:solidFill>
              </a:rPr>
              <a:t>01.09.2026</a:t>
            </a:r>
          </a:p>
        </p:txBody>
      </p:sp>
    </p:spTree>
    <p:extLst>
      <p:ext uri="{BB962C8B-B14F-4D97-AF65-F5344CB8AC3E}">
        <p14:creationId xmlns:p14="http://schemas.microsoft.com/office/powerpoint/2010/main" val="159808822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4FF88E-6991-4C20-82A0-08845D990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6670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SPAMGUARD • ПРОЕКТНЫЙ ПРАКТИКУМ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E24B7E-3BDE-4669-BED3-CB3890A41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524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318"/>
                </a:solidFill>
              </a:defRPr>
            </a:pPr>
            <a:r>
              <a:rPr sz="3000" b="1">
                <a:solidFill>
                  <a:srgbClr val="111318"/>
                </a:solidFill>
              </a:rPr>
              <a:t>Проект в одном слайде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25C549-0704-422E-9739-CBE4E20E9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257300"/>
            <a:ext cx="1123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DDD8BE-DCAA-4D15-8667-BCC221404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8F96A3"/>
                </a:solidFill>
              </a:defRPr>
            </a:pPr>
            <a:r>
              <a:rPr sz="975" b="0">
                <a:solidFill>
                  <a:srgbClr val="8F96A3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E1C65D-B0CC-446B-9275-5A8A434D1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04950"/>
            <a:ext cx="7429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E3A66"/>
                </a:solidFill>
              </a:defRPr>
            </a:pPr>
            <a:r>
              <a:rPr sz="2100" b="1">
                <a:solidFill>
                  <a:srgbClr val="0E3A66"/>
                </a:solidFill>
              </a:rPr>
              <a:t>SpamGuard помогает принять безопасное решение до перехода по ссылке или ответа отправителю.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20923D-132E-4EB4-89EF-2DA7538FF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495550"/>
            <a:ext cx="3429000" cy="1952625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0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F7AFEA-E3BD-423F-8239-32B777DCB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0"/>
            <a:ext cx="762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54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D7A1DA-8F40-4425-9C8B-0DE1D13DD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57475"/>
            <a:ext cx="2838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318"/>
                </a:solidFill>
              </a:defRPr>
            </a:pPr>
            <a:r>
              <a:rPr sz="1575" b="1">
                <a:solidFill>
                  <a:srgbClr val="111318"/>
                </a:solidFill>
              </a:rPr>
              <a:t>Проблема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B91D4C-A819-4688-9BF2-F768F472D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24200"/>
            <a:ext cx="29718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Пользователь видит подозрительное сообщение, но не может быстро оценить риск и понять, какие признаки его выдают.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19EDE8-08B9-4572-9D1E-C5BB246CE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495550"/>
            <a:ext cx="3429000" cy="1952625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069DF9-5D87-4BCD-B8E7-896B38D8F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667000"/>
            <a:ext cx="762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87EC0F-4EB8-4597-BA3B-F306E8DC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57475"/>
            <a:ext cx="2838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318"/>
                </a:solidFill>
              </a:defRPr>
            </a:pPr>
            <a:r>
              <a:rPr sz="1575" b="1">
                <a:solidFill>
                  <a:srgbClr val="111318"/>
                </a:solidFill>
              </a:rPr>
              <a:t>Решение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AD464C-7C67-4223-8BF8-E4830AFD2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124200"/>
            <a:ext cx="29718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Вставить текст → получить вероятность спама → увидеть ключевые слова и структурные сигналы → выбрать безопасное действие.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83519F-4213-4482-8F06-74B2B6DB4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495550"/>
            <a:ext cx="3810000" cy="1952625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047002-D425-4146-A60C-EA55077E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67000"/>
            <a:ext cx="762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9D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4020FF-5E68-40BF-85EA-D86FBDAAB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57475"/>
            <a:ext cx="3219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318"/>
                </a:solidFill>
              </a:defRPr>
            </a:pPr>
            <a:r>
              <a:rPr sz="1575" b="1">
                <a:solidFill>
                  <a:srgbClr val="111318"/>
                </a:solidFill>
              </a:rPr>
              <a:t>Доказательство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F41EEB-D463-48E3-A549-FCC75EFA1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124200"/>
            <a:ext cx="33528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Работающий Streamlit‑MVP, 24 838 сообщений после дедупликации, test = 4 968, F1 = 96,3%, 4/4 автотеста.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241B3A-4E64-42AC-AC5B-24BF8619F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95300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318"/>
                </a:solidFill>
              </a:defRPr>
            </a:pPr>
            <a:r>
              <a:rPr sz="2550" b="1">
                <a:solidFill>
                  <a:srgbClr val="111318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DCB14D-7049-477C-8BC5-78990A60D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4483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572"/>
                </a:solidFill>
              </a:defRPr>
            </a:pPr>
            <a:r>
              <a:rPr sz="1200" b="0">
                <a:solidFill>
                  <a:srgbClr val="5E6572"/>
                </a:solidFill>
              </a:rPr>
              <a:t>языка интерфейса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3B1912-16F8-46DB-A9B5-04E4ACCBF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95300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318"/>
                </a:solidFill>
              </a:defRPr>
            </a:pPr>
            <a:r>
              <a:rPr sz="2550" b="1">
                <a:solidFill>
                  <a:srgbClr val="111318"/>
                </a:solidFill>
              </a:rPr>
              <a:t>24 838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B521BF-6CBF-49E2-8B45-502394951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54483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572"/>
                </a:solidFill>
              </a:defRPr>
            </a:pPr>
            <a:r>
              <a:rPr sz="1200" b="0">
                <a:solidFill>
                  <a:srgbClr val="5E6572"/>
                </a:solidFill>
              </a:rPr>
              <a:t>сообщений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CAB7C9-DF1E-46F3-AA07-A886F63EC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95300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3D8DFF"/>
                </a:solidFill>
              </a:defRPr>
            </a:pPr>
            <a:r>
              <a:rPr sz="2550" b="1">
                <a:solidFill>
                  <a:srgbClr val="3D8DFF"/>
                </a:solidFill>
              </a:rPr>
              <a:t>96,3%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97F62EC-B268-4107-97A6-BA6EBAF17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483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572"/>
                </a:solidFill>
              </a:defRPr>
            </a:pPr>
            <a:r>
              <a:rPr sz="1200" b="0">
                <a:solidFill>
                  <a:srgbClr val="5E6572"/>
                </a:solidFill>
              </a:rPr>
              <a:t>F1 на test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2D5AFC-7974-4E3B-90E7-20FF3398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95300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318"/>
                </a:solidFill>
              </a:defRPr>
            </a:pPr>
            <a:r>
              <a:rPr sz="2550" b="1">
                <a:solidFill>
                  <a:srgbClr val="111318"/>
                </a:solidFill>
              </a:rPr>
              <a:t>≤ 1 000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61A47D-4EF8-4351-9662-055D05EB9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54483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572"/>
                </a:solidFill>
              </a:defRPr>
            </a:pPr>
            <a:r>
              <a:rPr sz="1200" b="0">
                <a:solidFill>
                  <a:srgbClr val="5E6572"/>
                </a:solidFill>
              </a:rPr>
              <a:t>строк в batch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07A58E7-4868-4F96-978D-1EF5D18C2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981700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8F96A3"/>
                </a:solidFill>
              </a:defRPr>
            </a:pPr>
            <a:r>
              <a:rPr sz="1200" b="0">
                <a:solidFill>
                  <a:srgbClr val="8F96A3"/>
                </a:solidFill>
              </a:rPr>
              <a:t>Статус: учебный прототип. Для промышленного запуска нужна валидация на данных конкретного канала и тест с реальными пользователями.</a:t>
            </a:r>
          </a:p>
        </p:txBody>
      </p:sp>
    </p:spTree>
    <p:extLst>
      <p:ext uri="{BB962C8B-B14F-4D97-AF65-F5344CB8AC3E}">
        <p14:creationId xmlns:p14="http://schemas.microsoft.com/office/powerpoint/2010/main" val="169481203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D02641-9B04-4612-8A1A-3F4B02B9E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6670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SPAMGUARD • ПРОЕКТНЫЙ ПРАКТИКУМ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7B8537-52D9-41B2-BD7B-44231B515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524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318"/>
                </a:solidFill>
              </a:defRPr>
            </a:pPr>
            <a:r>
              <a:rPr sz="3000" b="1">
                <a:solidFill>
                  <a:srgbClr val="111318"/>
                </a:solidFill>
              </a:rPr>
              <a:t>Актуальность: решение нужно принять до клика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1FB5C9-882F-4C5C-82AB-C6C299C47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257300"/>
            <a:ext cx="1123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E55A65-CE74-4476-853A-833FF64E7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8F96A3"/>
                </a:solidFill>
              </a:defRPr>
            </a:pPr>
            <a:r>
              <a:rPr sz="975" b="0">
                <a:solidFill>
                  <a:srgbClr val="8F96A3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811FBA-9745-47CF-AEB2-F1ABA0DC9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7637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E3A66"/>
                </a:solidFill>
              </a:defRPr>
            </a:pPr>
            <a:r>
              <a:rPr sz="1875" b="1">
                <a:solidFill>
                  <a:srgbClr val="0E3A66"/>
                </a:solidFill>
              </a:rPr>
              <a:t>Спам — не только раздражение. Опасность возникает в момент, когда сообщение маскируется под срочность, выгоду или доверенный бренд.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E33401-5C43-403C-8A9D-F31AB95FF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628900"/>
            <a:ext cx="3333750" cy="2333625"/>
          </a:xfrm>
          <a:prstGeom xmlns:a="http://schemas.openxmlformats.org/drawingml/2006/main" prst="roundRect">
            <a:avLst>
              <a:gd name="adj" fmla="val 9796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08C9DD-A98E-433A-B66C-7289A826F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575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DD5230-5021-4C1D-9F63-7F43785C8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622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0C967F-7AFA-469B-9D88-69E1B57E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8765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318"/>
                </a:solidFill>
              </a:defRPr>
            </a:pPr>
            <a:r>
              <a:rPr sz="1725" b="1">
                <a:solidFill>
                  <a:srgbClr val="111318"/>
                </a:solidFill>
              </a:rPr>
              <a:t>Сообщение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5BF5B7-7141-4EB2-9A5B-FEF8B37E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62350"/>
            <a:ext cx="2857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572"/>
                </a:solidFill>
              </a:defRPr>
            </a:pPr>
            <a:r>
              <a:rPr sz="1350" b="0">
                <a:solidFill>
                  <a:srgbClr val="5E6572"/>
                </a:solidFill>
              </a:rPr>
              <a:t>«Срочно», «вы выиграли», ссылка, сумма или просьба подтвердить данные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4C1A82-01EB-4A93-9D9F-979E161C1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714750"/>
            <a:ext cx="3333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413F79-ACF4-4AEF-B2A1-F8FFEAAC8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6385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3020DC-8AEC-4B67-903F-D78B7389E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628900"/>
            <a:ext cx="3333750" cy="2333625"/>
          </a:xfrm>
          <a:prstGeom xmlns:a="http://schemas.openxmlformats.org/drawingml/2006/main" prst="roundRect">
            <a:avLst>
              <a:gd name="adj" fmla="val 9796"/>
            </a:avLst>
          </a:prstGeom>
          <a:solidFill xmlns:a="http://schemas.openxmlformats.org/drawingml/2006/main">
            <a:srgbClr val="FFF6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843F6D-9197-4F02-9910-37C51C46D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8575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9A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A725EC-0FEF-4543-8922-C738A8A13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9622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0F566E-3162-47A1-BE9F-EF146E2A6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4925" y="28765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318"/>
                </a:solidFill>
              </a:defRPr>
            </a:pPr>
            <a:r>
              <a:rPr sz="1725" b="1">
                <a:solidFill>
                  <a:srgbClr val="111318"/>
                </a:solidFill>
              </a:rPr>
              <a:t>Неопределённость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13D414-8157-48AF-9E89-31C2C97F8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562350"/>
            <a:ext cx="2857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572"/>
                </a:solidFill>
              </a:defRPr>
            </a:pPr>
            <a:r>
              <a:rPr sz="1350" b="0">
                <a:solidFill>
                  <a:srgbClr val="5E6572"/>
                </a:solidFill>
              </a:rPr>
              <a:t>Пользователь не знает, что важнее: отправитель, формулировка, ссылка или контекст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D34C89-C9E2-4914-A002-291591E08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714750"/>
            <a:ext cx="3333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CEFEB9-5F30-4F66-B6CD-2AE36ECD4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36385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5D8461-C7D5-48E9-9DA9-966C0890A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628900"/>
            <a:ext cx="3333750" cy="2333625"/>
          </a:xfrm>
          <a:prstGeom xmlns:a="http://schemas.openxmlformats.org/drawingml/2006/main" prst="roundRect">
            <a:avLst>
              <a:gd name="adj" fmla="val 9796"/>
            </a:avLst>
          </a:prstGeom>
          <a:solidFill xmlns:a="http://schemas.openxmlformats.org/drawingml/2006/main">
            <a:srgbClr val="FFF0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EEE758-434F-42AF-9F4C-ADA1BCC7F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575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354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783140-6268-4D6F-8CE4-4F8B5A339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62275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0ADD0F-44C3-4EF4-AE57-0F8CD2B58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8765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318"/>
                </a:solidFill>
              </a:defRPr>
            </a:pPr>
            <a:r>
              <a:rPr sz="1725" b="1">
                <a:solidFill>
                  <a:srgbClr val="111318"/>
                </a:solidFill>
              </a:rPr>
              <a:t>Действие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6D3943-100F-4CA7-827F-E48BB3922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62350"/>
            <a:ext cx="2857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572"/>
                </a:solidFill>
              </a:defRPr>
            </a:pPr>
            <a:r>
              <a:rPr sz="1350" b="0">
                <a:solidFill>
                  <a:srgbClr val="5E6572"/>
                </a:solidFill>
              </a:rPr>
              <a:t>Переход по ссылке, ответ, передача данных — либо осознанный отказ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761286-34B0-425E-BD61-E3EDA94B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34000"/>
            <a:ext cx="11239500" cy="74295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111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2B855B-441A-41C3-8C43-4416A3E14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149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CBF4"/>
                </a:solidFill>
              </a:defRPr>
            </a:pPr>
            <a:r>
              <a:rPr sz="1350" b="1">
                <a:solidFill>
                  <a:srgbClr val="6DCBF4"/>
                </a:solidFill>
              </a:rPr>
              <a:t>Точка ценности SpamGuard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7AD745-FD5C-4BA1-9E32-CAB6AA715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476875"/>
            <a:ext cx="7667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94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перевести неопределённость в измеримый риск и объяснить решение простым языком</a:t>
            </a:r>
          </a:p>
        </p:txBody>
      </p:sp>
    </p:spTree>
    <p:extLst>
      <p:ext uri="{BB962C8B-B14F-4D97-AF65-F5344CB8AC3E}">
        <p14:creationId xmlns:p14="http://schemas.microsoft.com/office/powerpoint/2010/main" val="198144322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F0532C-E6A5-4C96-8EDE-3377FC11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6670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SPAMGUARD • ПРОЕКТНЫЙ ПРАКТИКУМ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9CBEE8-31C1-4588-9997-4FD5079C8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524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318"/>
                </a:solidFill>
              </a:defRPr>
            </a:pPr>
            <a:r>
              <a:rPr sz="3000" b="1">
                <a:solidFill>
                  <a:srgbClr val="111318"/>
                </a:solidFill>
              </a:rPr>
              <a:t>Целевая аудитория: кому особенно не хватает уверенности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092D15-0C1A-4244-BF71-E3750604E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257300"/>
            <a:ext cx="1123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18C454-1A7F-47DE-899B-8036E7BE4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8F96A3"/>
                </a:solidFill>
              </a:defRPr>
            </a:pPr>
            <a:r>
              <a:rPr sz="975" b="0">
                <a:solidFill>
                  <a:srgbClr val="8F96A3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A2CBB5-3B06-4F7E-82D9-B7A0287FE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24000"/>
            <a:ext cx="6858000" cy="4476750"/>
          </a:xfrm>
          <a:prstGeom xmlns:a="http://schemas.openxmlformats.org/drawingml/2006/main" prst="roundRect">
            <a:avLst>
              <a:gd name="adj" fmla="val 5532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5D02BE-A9AB-4D6C-A119-A5621A025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52600"/>
            <a:ext cx="1905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1B9396-FD2E-4499-BA70-CD09DA8F5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19275"/>
            <a:ext cx="1676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ОСНОВНОЙ СЕГМЕНТ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A5CE11-CD53-4E38-8565-F76EC48B5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669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11318"/>
                </a:solidFill>
              </a:defRPr>
            </a:pPr>
            <a:r>
              <a:rPr sz="2250" b="1">
                <a:solidFill>
                  <a:srgbClr val="111318"/>
                </a:solidFill>
              </a:rPr>
              <a:t>Обычный пользователь смартфона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EB4DF8-555C-4878-A198-ACB047CC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24175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Контекст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223B52-AE40-4611-A0F1-5A1F3CF42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886075"/>
            <a:ext cx="476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572"/>
                </a:solidFill>
              </a:defRPr>
            </a:pPr>
            <a:r>
              <a:rPr sz="1350" b="0">
                <a:solidFill>
                  <a:srgbClr val="5E6572"/>
                </a:solidFill>
              </a:rPr>
              <a:t>Получает SMS, письма и сообщения в мессенджерах; редко знает технические признаки фишинга; хочет проверить текст без регистрации.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840495-B72B-4336-A59D-063899BF6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2905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3545B"/>
                </a:solidFill>
              </a:defRPr>
            </a:pPr>
            <a:r>
              <a:rPr sz="1350" b="1">
                <a:solidFill>
                  <a:srgbClr val="E3545B"/>
                </a:solidFill>
              </a:rPr>
              <a:t>Боль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3E2332-CAEC-4E02-81C1-366201BFC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790950"/>
            <a:ext cx="476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572"/>
                </a:solidFill>
              </a:defRPr>
            </a:pPr>
            <a:r>
              <a:rPr sz="1350" b="0">
                <a:solidFill>
                  <a:srgbClr val="5E6572"/>
                </a:solidFill>
              </a:rPr>
              <a:t>Страх пропустить важное сообщение и одновременно риск поверить мошеннику. Особенно чувствителен к ложным тревогам.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66B7F5-F1F0-4B1A-B212-FC96329AE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33925"/>
            <a:ext cx="1476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D9D78"/>
                </a:solidFill>
              </a:defRPr>
            </a:pPr>
            <a:r>
              <a:rPr sz="1350" b="1">
                <a:solidFill>
                  <a:srgbClr val="2D9D78"/>
                </a:solidFill>
              </a:rPr>
              <a:t>Критерии доверия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45AC52-4307-4C77-B762-75558F36C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95825"/>
            <a:ext cx="4476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572"/>
                </a:solidFill>
              </a:defRPr>
            </a:pPr>
            <a:r>
              <a:rPr sz="1350" b="0">
                <a:solidFill>
                  <a:srgbClr val="5E6572"/>
                </a:solidFill>
              </a:rPr>
              <a:t>Понятное объяснение, приватность, быстрый ответ, возможность самому изменить чувствительность.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BE0D00-9E12-4563-A244-D48EB4C40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524000"/>
            <a:ext cx="4000500" cy="2047875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036A81-AE7C-492B-A01F-76B42E23D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695450"/>
            <a:ext cx="762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CFE1A4-3EFA-4645-976D-8BAC05A4B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685925"/>
            <a:ext cx="3409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318"/>
                </a:solidFill>
              </a:defRPr>
            </a:pPr>
            <a:r>
              <a:rPr sz="1575" b="1">
                <a:solidFill>
                  <a:srgbClr val="111318"/>
                </a:solidFill>
              </a:rPr>
              <a:t>Вторичный сегмент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543812-EF48-41CF-B9C0-0E758C31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152650"/>
            <a:ext cx="3543300" cy="1266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Модераторы, службы поддержки и небольшие команды: пакетная проверка сообщений, экспорт и первичная сортировка очереди.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8445B5-F32D-41D0-BA5D-BAF4A0753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838575"/>
            <a:ext cx="4000500" cy="2162175"/>
          </a:xfrm>
          <a:prstGeom xmlns:a="http://schemas.openxmlformats.org/drawingml/2006/main" prst="roundRect">
            <a:avLst>
              <a:gd name="adj" fmla="val 8811"/>
            </a:avLst>
          </a:prstGeom>
          <a:solidFill xmlns:a="http://schemas.openxmlformats.org/drawingml/2006/main">
            <a:srgbClr val="F8F9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05D2EA-990D-497D-B832-F4406C16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010025"/>
            <a:ext cx="762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F96A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FB3D25-01DA-4F29-B828-D458FBCF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000500"/>
            <a:ext cx="3409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318"/>
                </a:solidFill>
              </a:defRPr>
            </a:pPr>
            <a:r>
              <a:rPr sz="1575" b="1">
                <a:solidFill>
                  <a:srgbClr val="111318"/>
                </a:solidFill>
              </a:rPr>
              <a:t>Анти‑персона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59B6D8-5A8B-43BF-B7DD-D3E18696E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467225"/>
            <a:ext cx="35433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Эксперт SOC или крупный банк: им нужны журналы событий, интеграции, SLA, аудит и отраслевые датасеты — вне масштаба текущего MVP.</a:t>
            </a:r>
          </a:p>
        </p:txBody>
      </p:sp>
    </p:spTree>
    <p:extLst>
      <p:ext uri="{BB962C8B-B14F-4D97-AF65-F5344CB8AC3E}">
        <p14:creationId xmlns:p14="http://schemas.microsoft.com/office/powerpoint/2010/main" val="116614033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D96F580-CCD8-4FC4-9C03-07246F761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6670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SPAMGUARD • ПРОЕКТНЫЙ ПРАКТИКУМ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D18CB2-8213-4BB8-865F-D23CA265A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524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318"/>
                </a:solidFill>
              </a:defRPr>
            </a:pPr>
            <a:r>
              <a:rPr sz="3000" b="1">
                <a:solidFill>
                  <a:srgbClr val="111318"/>
                </a:solidFill>
              </a:rPr>
              <a:t>Проблема в терминах задачи пользователя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2069FC-5055-40FF-AA24-4372CA3F0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257300"/>
            <a:ext cx="1123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00133E-72CA-43AA-932A-18FEB950C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8F96A3"/>
                </a:solidFill>
              </a:defRPr>
            </a:pPr>
            <a:r>
              <a:rPr sz="975" b="0">
                <a:solidFill>
                  <a:srgbClr val="8F96A3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887ED8-ACB4-46B9-B773-7C44A76B4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04950"/>
            <a:ext cx="11239500" cy="87630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111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61D413-E61F-4BD0-BFA8-1E0D89FE5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106299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806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«Когда я получаю сомнительное сообщение, я хочу быстро понять риск и его причины, чтобы не потерять важное и не попасться на обман.»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F68230-2ADA-4D14-BB32-EE7BCEB0F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05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354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D84AE4-891B-4122-8730-6D3EF0C81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289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6FFFE8-1C24-4D6D-89EA-8ED034D0D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38550"/>
            <a:ext cx="2333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318"/>
                </a:solidFill>
              </a:defRPr>
            </a:pPr>
            <a:r>
              <a:rPr sz="1575" b="1">
                <a:solidFill>
                  <a:srgbClr val="111318"/>
                </a:solidFill>
              </a:rPr>
              <a:t>Получить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9D6FBB-0DAA-4998-8D7E-8937195C2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038600"/>
            <a:ext cx="2333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Сообщение приходит из неизвестного или знакомого канала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5FADA2-E61A-41F3-BAAD-4129F66AE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3143250"/>
            <a:ext cx="1885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02B45F-01AB-4F9C-8A0E-1A47328F8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0670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5907E4-94C3-4C56-A2A5-5B38CFBFE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2905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354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C3B4B6-35CC-42FD-BEC0-22050F482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30289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94BBAA-2FA9-4F76-A485-1E531BD51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638550"/>
            <a:ext cx="2333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318"/>
                </a:solidFill>
              </a:defRPr>
            </a:pPr>
            <a:r>
              <a:rPr sz="1575" b="1">
                <a:solidFill>
                  <a:srgbClr val="111318"/>
                </a:solidFill>
              </a:rPr>
              <a:t>Сомневаться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3A15A5-F8BA-4949-B180-4C11F8290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038600"/>
            <a:ext cx="2333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Срочность и выгода конфликтуют со здравым смыслом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109CF8-E168-4F56-A03B-2B4AEF4B5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143250"/>
            <a:ext cx="1885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C4A7B2-03A5-4478-BCA9-721237B8A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30670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88E68F-226C-4B5E-8A74-42AE9B2D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905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E56C35-7430-4479-9A7C-9ABCF357C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289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B34592-04E0-45EC-927A-C3F3D5513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38550"/>
            <a:ext cx="2333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318"/>
                </a:solidFill>
              </a:defRPr>
            </a:pPr>
            <a:r>
              <a:rPr sz="1575" b="1">
                <a:solidFill>
                  <a:srgbClr val="111318"/>
                </a:solidFill>
              </a:rPr>
              <a:t>Проверить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094471-9297-49A6-8483-849F292FC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38600"/>
            <a:ext cx="2333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Скопировать текст и получить вероятность + признаки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70A2BB-D573-447A-81C3-9C24D1CC2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143250"/>
            <a:ext cx="1885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5A8F24-F6CC-46E7-822E-45B2355CA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0670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2B0A69-C214-4408-8FA8-FD8369332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2905125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F0A523-8300-4EDC-9267-6EBD4F541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0289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64F62F-0C39-4162-9161-833F8ABA6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3638550"/>
            <a:ext cx="2333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318"/>
                </a:solidFill>
              </a:defRPr>
            </a:pPr>
            <a:r>
              <a:rPr sz="1575" b="1">
                <a:solidFill>
                  <a:srgbClr val="111318"/>
                </a:solidFill>
              </a:rPr>
              <a:t>Решить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E3A00D9-E017-419C-9615-963AEFB7C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4038600"/>
            <a:ext cx="2333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Не переходить, перепроверить отправителя или продолжить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1CC57B1-CC01-4DC5-87C2-D642B562B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054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3545B"/>
                </a:solidFill>
              </a:defRPr>
            </a:pPr>
            <a:r>
              <a:rPr sz="1350" b="1">
                <a:solidFill>
                  <a:srgbClr val="E3545B"/>
                </a:solidFill>
              </a:rPr>
              <a:t>Ключевой барьер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1FCE556-1C8B-4D3B-AE6F-52B5BFDA9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267325"/>
            <a:ext cx="8810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318"/>
                </a:solidFill>
              </a:defRPr>
            </a:pPr>
            <a:r>
              <a:rPr sz="1575" b="1">
                <a:solidFill>
                  <a:srgbClr val="111318"/>
                </a:solidFill>
              </a:rPr>
              <a:t>обычные фильтры скрывают решение; пользователю остаётся либо довериться «чёрному ящику», либо разбираться самому</a:t>
            </a:r>
          </a:p>
        </p:txBody>
      </p:sp>
    </p:spTree>
    <p:extLst>
      <p:ext uri="{BB962C8B-B14F-4D97-AF65-F5344CB8AC3E}">
        <p14:creationId xmlns:p14="http://schemas.microsoft.com/office/powerpoint/2010/main" val="14385735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10647E9-2CB0-4FB8-90F0-BFF2FE250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6670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SPAMGUARD • ПРОЕКТНЫЙ ПРАКТИКУМ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A4EC53-F368-4E23-B50F-EEABDA966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524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318"/>
                </a:solidFill>
              </a:defRPr>
            </a:pPr>
            <a:r>
              <a:rPr sz="3000" b="1">
                <a:solidFill>
                  <a:srgbClr val="111318"/>
                </a:solidFill>
              </a:rPr>
              <a:t>Конкуренты: рынок решает блокировку, но редко объясняет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BEE29F-7DE6-44F0-9612-DFF4F65E9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257300"/>
            <a:ext cx="1123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7ED226-9DF4-4B42-8AD5-05E0560F4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8F96A3"/>
                </a:solidFill>
              </a:defRPr>
            </a:pPr>
            <a:r>
              <a:rPr sz="975" b="0">
                <a:solidFill>
                  <a:srgbClr val="8F96A3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A3EAA2-0FED-45F7-BEA1-6DA339F88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81150"/>
            <a:ext cx="1952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8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4113C0-9018-457C-9A07-D42FC2C5B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57350"/>
            <a:ext cx="1762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Решение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52F16F-B386-47D1-A3ED-DF1D7D103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1581150"/>
            <a:ext cx="16383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8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DC16B3-DC4B-4B7C-9311-B9A2FCFDE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1657350"/>
            <a:ext cx="1447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Каналы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51F3AE-EBEC-4755-AE68-506F6985F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1581150"/>
            <a:ext cx="1762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8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525EFB-4737-499C-8CCC-4D2E082E3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657350"/>
            <a:ext cx="1571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Объяснение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D4A442-ACFB-47A1-8B4F-2E340825F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5811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8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1F468D-4A70-4D81-9EC0-F125A61DB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57350"/>
            <a:ext cx="142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Обработка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691F41-0E19-409D-A9D8-618080FE7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581150"/>
            <a:ext cx="1619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8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3A73FB-A599-42EA-A6BF-E873B7F4D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657350"/>
            <a:ext cx="142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Цена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C68111-FC1E-4AC0-B478-8B9E4E19D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581150"/>
            <a:ext cx="26479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8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BDF5F8-D94D-4756-AD2F-D08985E77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657350"/>
            <a:ext cx="24574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Ограничение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A37E07-5D83-4047-8F80-7C41F2293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133600"/>
            <a:ext cx="1952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2A06EE-400D-4B93-8CDA-B14BA3889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9800"/>
            <a:ext cx="1762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</a:defRPr>
            </a:pPr>
            <a:r>
              <a:rPr sz="1200" b="0">
                <a:solidFill>
                  <a:srgbClr val="111318"/>
                </a:solidFill>
              </a:rPr>
              <a:t>Google Messages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8FE241-AF00-4087-B6AE-C0C9C34F0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133600"/>
            <a:ext cx="16383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5FF3B6-64AB-449E-B9EE-76C5E6B79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209800"/>
            <a:ext cx="1447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</a:defRPr>
            </a:pPr>
            <a:r>
              <a:rPr sz="1200" b="0">
                <a:solidFill>
                  <a:srgbClr val="111318"/>
                </a:solidFill>
              </a:rPr>
              <a:t>SMS / RCS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7B037E-8196-4E4E-A221-E54132B13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2133600"/>
            <a:ext cx="17621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600FEF-91D2-4358-82AD-15249CF2A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209800"/>
            <a:ext cx="157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</a:defRPr>
            </a:pPr>
            <a:r>
              <a:rPr sz="1200" b="0">
                <a:solidFill>
                  <a:srgbClr val="111318"/>
                </a:solidFill>
              </a:rPr>
              <a:t>Нет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89C31F-09FE-4BBF-A3F5-4BAAD35DC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133600"/>
            <a:ext cx="1619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E8F10C-F565-4AC2-9DBE-A0C673C4C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209800"/>
            <a:ext cx="1428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</a:defRPr>
            </a:pPr>
            <a:r>
              <a:rPr sz="1200" b="0">
                <a:solidFill>
                  <a:srgbClr val="111318"/>
                </a:solidFill>
              </a:rPr>
              <a:t>На устройстве + сервис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5FF960-ACDB-4E5B-82BE-4C088C88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133600"/>
            <a:ext cx="1619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1ADEF4-94EE-4750-A82D-387A6E866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209800"/>
            <a:ext cx="1428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</a:defRPr>
            </a:pPr>
            <a:r>
              <a:rPr sz="1200" b="0">
                <a:solidFill>
                  <a:srgbClr val="111318"/>
                </a:solidFill>
              </a:rPr>
              <a:t>Включено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92AC053-39E8-449B-9F42-6F6EE47DB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133600"/>
            <a:ext cx="2647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1435AD-FAA2-4233-B921-E3363A345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209800"/>
            <a:ext cx="245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</a:defRPr>
            </a:pPr>
            <a:r>
              <a:rPr sz="1200" b="0">
                <a:solidFill>
                  <a:srgbClr val="111318"/>
                </a:solidFill>
              </a:rPr>
              <a:t>Только экосистема Android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D275282-3C25-44C1-AF59-C7D5E7854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857500"/>
            <a:ext cx="1952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A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C58BE13-A75E-4902-A611-7F72C91E7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33700"/>
            <a:ext cx="1762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</a:defRPr>
            </a:pPr>
            <a:r>
              <a:rPr sz="1200" b="0">
                <a:solidFill>
                  <a:srgbClr val="111318"/>
                </a:solidFill>
              </a:rPr>
              <a:t>Apple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8C07343-CF19-44F7-9459-87A4380D2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857500"/>
            <a:ext cx="16383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A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03F354D-0504-47A0-954F-E1E4F861C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2933700"/>
            <a:ext cx="1447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</a:defRPr>
            </a:pPr>
            <a:r>
              <a:rPr sz="1200" b="0">
                <a:solidFill>
                  <a:srgbClr val="111318"/>
                </a:solidFill>
              </a:rPr>
              <a:t>SMS / iMessage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D0DECB5-48AC-4D56-817D-B74C1336D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2857500"/>
            <a:ext cx="17621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A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C54CEA9-95C5-469F-A6C0-926D41394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933700"/>
            <a:ext cx="157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</a:defRPr>
            </a:pPr>
            <a:r>
              <a:rPr sz="1200" b="0">
                <a:solidFill>
                  <a:srgbClr val="111318"/>
                </a:solidFill>
              </a:rPr>
              <a:t>Нет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25EE7FB-51A6-40D8-B559-52635348A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857500"/>
            <a:ext cx="1619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A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9ECBD64-03BC-4FE0-8D19-3D7E27C70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933700"/>
            <a:ext cx="1428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</a:defRPr>
            </a:pPr>
            <a:r>
              <a:rPr sz="1200" b="0">
                <a:solidFill>
                  <a:srgbClr val="111318"/>
                </a:solidFill>
              </a:rPr>
              <a:t>Системный фильтр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BDB85FF-3850-4AAA-9730-FD0293099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857500"/>
            <a:ext cx="1619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A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40F66D8-5FDC-411C-BEEC-0112ACBD1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933700"/>
            <a:ext cx="1428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</a:defRPr>
            </a:pPr>
            <a:r>
              <a:rPr sz="1200" b="0">
                <a:solidFill>
                  <a:srgbClr val="111318"/>
                </a:solidFill>
              </a:rPr>
              <a:t>Включено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5CBCE5F-AE2D-46F8-93D6-F332A57DC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857500"/>
            <a:ext cx="2647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A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BC2E18B-453E-40A3-A496-ED6586DCD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933700"/>
            <a:ext cx="245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</a:defRPr>
            </a:pPr>
            <a:r>
              <a:rPr sz="1200" b="0">
                <a:solidFill>
                  <a:srgbClr val="111318"/>
                </a:solidFill>
              </a:rPr>
              <a:t>Только экосистема Apple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24D0F6D-59B9-40ED-8317-1DCB09B0B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581400"/>
            <a:ext cx="1952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C1EC247-9900-430B-9853-679BCCAE1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57600"/>
            <a:ext cx="1762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</a:defRPr>
            </a:pPr>
            <a:r>
              <a:rPr sz="1200" b="0">
                <a:solidFill>
                  <a:srgbClr val="111318"/>
                </a:solidFill>
              </a:rPr>
              <a:t>Truecaller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C670AFE-F0D0-4E8E-A1EF-1483CA4AD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581400"/>
            <a:ext cx="16383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08E168F-1DC8-47D7-81A1-0FC0DA2B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657600"/>
            <a:ext cx="1447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</a:defRPr>
            </a:pPr>
            <a:r>
              <a:rPr sz="1200" b="0">
                <a:solidFill>
                  <a:srgbClr val="111318"/>
                </a:solidFill>
              </a:rPr>
              <a:t>Звонки / SMS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2837777-3781-4A91-BB65-9A85A1ECB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3581400"/>
            <a:ext cx="17621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6FCDB91-65C7-4400-9438-C12D101C0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3657600"/>
            <a:ext cx="157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</a:defRPr>
            </a:pPr>
            <a:r>
              <a:rPr sz="1200" b="0">
                <a:solidFill>
                  <a:srgbClr val="111318"/>
                </a:solidFill>
              </a:rPr>
              <a:t>Нет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E59E65F-E5C0-4383-A8EB-BBCB3A9C9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581400"/>
            <a:ext cx="1619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9AD23B5-C07E-45A3-ACAE-03206EA40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657600"/>
            <a:ext cx="1428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</a:defRPr>
            </a:pPr>
            <a:r>
              <a:rPr sz="1200" b="0">
                <a:solidFill>
                  <a:srgbClr val="111318"/>
                </a:solidFill>
              </a:rPr>
              <a:t>Сервис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E18D531-D629-44F6-BEE0-4F96E90E9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81400"/>
            <a:ext cx="1619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660A908-7BDB-4CD7-BB81-0A7C26C7E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57600"/>
            <a:ext cx="1428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</a:defRPr>
            </a:pPr>
            <a:r>
              <a:rPr sz="1200" b="0">
                <a:solidFill>
                  <a:srgbClr val="111318"/>
                </a:solidFill>
              </a:rPr>
              <a:t>$74,99/год*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4899BC2-A6BE-4ECB-9D55-83164567F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581400"/>
            <a:ext cx="2647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9A75399-B721-4395-99C6-8656231EC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657600"/>
            <a:ext cx="245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</a:defRPr>
            </a:pPr>
            <a:r>
              <a:rPr sz="1200" b="0">
                <a:solidFill>
                  <a:srgbClr val="111318"/>
                </a:solidFill>
              </a:rPr>
              <a:t>Коммерческий, без объяснения ML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3BDB159-BA47-4476-8119-142D72FD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305300"/>
            <a:ext cx="1952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A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7796249-32ED-4662-8EB9-6620CE6E1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81500"/>
            <a:ext cx="1762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</a:defRPr>
            </a:pPr>
            <a:r>
              <a:rPr sz="1200" b="0">
                <a:solidFill>
                  <a:srgbClr val="111318"/>
                </a:solidFill>
              </a:rPr>
              <a:t>Kaspersky Who Calls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2061BB0-CB4A-46EE-88A9-5ACB775C7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305300"/>
            <a:ext cx="16383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A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EBCC838-B9AF-4E54-8594-5A803EE60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381500"/>
            <a:ext cx="1447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</a:defRPr>
            </a:pPr>
            <a:r>
              <a:rPr sz="1200" b="0">
                <a:solidFill>
                  <a:srgbClr val="111318"/>
                </a:solidFill>
              </a:rPr>
              <a:t>Звонки / SMS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DFD8A98-CBE7-4DC6-BB47-85A8FCDAD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4305300"/>
            <a:ext cx="17621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A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5533441-BFF1-4DA3-9236-78989101D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4381500"/>
            <a:ext cx="157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</a:defRPr>
            </a:pPr>
            <a:r>
              <a:rPr sz="1200" b="0">
                <a:solidFill>
                  <a:srgbClr val="111318"/>
                </a:solidFill>
              </a:rPr>
              <a:t>Угроза / ссылка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9FF4D4D-942E-4129-BF35-F8A75DD2F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305300"/>
            <a:ext cx="1619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A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4D9DC30-9F91-4DE5-9BBD-504C03DF6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81500"/>
            <a:ext cx="1428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</a:defRPr>
            </a:pPr>
            <a:r>
              <a:rPr sz="1200" b="0">
                <a:solidFill>
                  <a:srgbClr val="111318"/>
                </a:solidFill>
              </a:rPr>
              <a:t>Гибрид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E22A533-0E4E-4F36-9F33-F2AEC1E48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305300"/>
            <a:ext cx="1619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A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320AA6B-56C8-4C9D-AD9B-34878F92B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381500"/>
            <a:ext cx="1428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</a:defRPr>
            </a:pPr>
            <a:r>
              <a:rPr sz="1200" b="0">
                <a:solidFill>
                  <a:srgbClr val="111318"/>
                </a:solidFill>
              </a:rPr>
              <a:t>Free + подписка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D8DC059-945E-46C0-BBA8-29CD00577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305300"/>
            <a:ext cx="2647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A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21EB9E8-33E7-4606-8303-37A9B394E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381500"/>
            <a:ext cx="245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</a:defRPr>
            </a:pPr>
            <a:r>
              <a:rPr sz="1200" b="0">
                <a:solidFill>
                  <a:srgbClr val="111318"/>
                </a:solidFill>
              </a:rPr>
              <a:t>Фокус на номерах и фишинге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D59A868-FB2A-4338-9030-3FB78AD4C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029200"/>
            <a:ext cx="1952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7E34692-C2EF-45FD-9501-7B8F0EED2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05400"/>
            <a:ext cx="1762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318"/>
                </a:solidFill>
              </a:defRPr>
            </a:pPr>
            <a:r>
              <a:rPr sz="1200" b="1">
                <a:solidFill>
                  <a:srgbClr val="111318"/>
                </a:solidFill>
              </a:rPr>
              <a:t>SpamGuard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82EC7C7-BB86-4E51-B140-EBC0BE26A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5029200"/>
            <a:ext cx="16383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8EC9EFC-ED4C-45B8-A1FF-078244998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5105400"/>
            <a:ext cx="1447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318"/>
                </a:solidFill>
              </a:defRPr>
            </a:pPr>
            <a:r>
              <a:rPr sz="1200" b="1">
                <a:solidFill>
                  <a:srgbClr val="111318"/>
                </a:solidFill>
              </a:rPr>
              <a:t>SMS / email / chat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22A87F4-2475-466A-83F0-CF4B1C622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5029200"/>
            <a:ext cx="17621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FAE493C-A957-4F8D-BB85-D29A3576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5105400"/>
            <a:ext cx="157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318"/>
                </a:solidFill>
              </a:defRPr>
            </a:pPr>
            <a:r>
              <a:rPr sz="1200" b="1">
                <a:solidFill>
                  <a:srgbClr val="111318"/>
                </a:solidFill>
              </a:rPr>
              <a:t>Риск + признаки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41D368A-867E-4CB5-A550-3E13BD6C2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029200"/>
            <a:ext cx="1619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73F9E5A-671B-44C0-A684-6C1E36A6C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5105400"/>
            <a:ext cx="1428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318"/>
                </a:solidFill>
              </a:defRPr>
            </a:pPr>
            <a:r>
              <a:rPr sz="1200" b="1">
                <a:solidFill>
                  <a:srgbClr val="111318"/>
                </a:solidFill>
              </a:rPr>
              <a:t>Локально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8DD2CA3-BA67-434F-87E0-2D52700B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5029200"/>
            <a:ext cx="1619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5E4FADC-779F-4D67-B5D8-093D1C27B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105400"/>
            <a:ext cx="1428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318"/>
                </a:solidFill>
              </a:defRPr>
            </a:pPr>
            <a:r>
              <a:rPr sz="1200" b="1">
                <a:solidFill>
                  <a:srgbClr val="111318"/>
                </a:solidFill>
              </a:rPr>
              <a:t>Бесплатный MVP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4A978FE-A5B9-4747-9B6D-5ACC4CFEE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5029200"/>
            <a:ext cx="26479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D40599A-5C26-4739-A564-60340F20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105400"/>
            <a:ext cx="2457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</a:defRPr>
            </a:pPr>
            <a:r>
              <a:rPr sz="1200" b="0">
                <a:solidFill>
                  <a:srgbClr val="111318"/>
                </a:solidFill>
              </a:rPr>
              <a:t>Не production; ES — demo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DEC6CAD-9D3E-46DD-9D1D-56F4AF9BC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15315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F96A3"/>
                </a:solidFill>
              </a:defRPr>
            </a:pPr>
            <a:r>
              <a:rPr sz="1050" b="0">
                <a:solidFill>
                  <a:srgbClr val="8F96A3"/>
                </a:solidFill>
              </a:rPr>
              <a:t>*Цена Truecaller Premium на странице сервиса; локальные цены и планы могут отличаться.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ACD5A4C-D646-4C8C-9F84-4B7586869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429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E3A66"/>
                </a:solidFill>
              </a:defRPr>
            </a:pPr>
            <a:r>
              <a:rPr sz="1275" b="1">
                <a:solidFill>
                  <a:srgbClr val="0E3A66"/>
                </a:solidFill>
              </a:rPr>
              <a:t>Вывод: ниша SpamGuard — не фоновая блокировка, а самостоятельная понятная проверка текста из любого канала.</a:t>
            </a:r>
          </a:p>
        </p:txBody>
      </p:sp>
    </p:spTree>
    <p:extLst>
      <p:ext uri="{BB962C8B-B14F-4D97-AF65-F5344CB8AC3E}">
        <p14:creationId xmlns:p14="http://schemas.microsoft.com/office/powerpoint/2010/main" val="176213067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742556-509E-4729-956D-3B410AFD6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6670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SPAMGUARD • ПРОЕКТНЫЙ ПРАКТИКУМ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DA0530-98D5-4655-834E-218F28624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524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318"/>
                </a:solidFill>
              </a:defRPr>
            </a:pPr>
            <a:r>
              <a:rPr sz="3000" b="1">
                <a:solidFill>
                  <a:srgbClr val="111318"/>
                </a:solidFill>
              </a:rPr>
              <a:t>Позиционирование: прозрачный второй взгляд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51AF82-72C9-4992-B638-0F3D067CA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257300"/>
            <a:ext cx="1123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D954BF-4425-47A1-8B01-3632F66C6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8F96A3"/>
                </a:solidFill>
              </a:defRPr>
            </a:pPr>
            <a:r>
              <a:rPr sz="975" b="0">
                <a:solidFill>
                  <a:srgbClr val="8F96A3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615FA6-48BC-4F5E-9BD9-C83E1B010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66850"/>
            <a:ext cx="1076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E3A66"/>
                </a:solidFill>
              </a:defRPr>
            </a:pPr>
            <a:r>
              <a:rPr sz="1875" b="1">
                <a:solidFill>
                  <a:srgbClr val="0E3A66"/>
                </a:solidFill>
              </a:rPr>
              <a:t>SpamGuard не заменяет встроенный антиспам. Он закрывает момент сомнения, когда пользователь уже видит сообщение и хочет понять его.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20E565-2649-4CBD-9DB0-64757A205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09850"/>
            <a:ext cx="3048000" cy="23812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BA0294-8138-4F1C-B18C-E30594BC1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905125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SpamGuard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7335C0-B263-4099-A9D7-EE983E40A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533775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локальная проверка</a:t>
            </a:r>
          </a:p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из любого канала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C5DBD3-94E8-4AEC-AFD2-7191738D2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448175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вероятность + причины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0B0AE3-351A-47B8-A97F-61C633BDC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295275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FEFEE4-9BC2-4B0C-8611-11AE53D30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762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8F3006-A44D-4AB8-A6A0-AB3D564F1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62225"/>
            <a:ext cx="236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318"/>
                </a:solidFill>
              </a:defRPr>
            </a:pPr>
            <a:r>
              <a:rPr sz="1575" b="1">
                <a:solidFill>
                  <a:srgbClr val="111318"/>
                </a:solidFill>
              </a:rPr>
              <a:t>Кросс‑канально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A7B228-C390-44AA-BB01-79D9A50C1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28950"/>
            <a:ext cx="2495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572"/>
                </a:solidFill>
              </a:defRPr>
            </a:pPr>
            <a:r>
              <a:rPr sz="1200" b="0">
                <a:solidFill>
                  <a:srgbClr val="5E6572"/>
                </a:solidFill>
              </a:rPr>
              <a:t>SMS, письмо или сообщение — достаточно текста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289D67-AC40-41E5-94B6-DDFE39C2F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33875"/>
            <a:ext cx="295275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A8C9F8-7F61-470A-84EE-6E6BAA39A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05325"/>
            <a:ext cx="762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9D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0F4FE0-FE6B-4475-BE4E-1EB2AF11F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95800"/>
            <a:ext cx="236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318"/>
                </a:solidFill>
              </a:defRPr>
            </a:pPr>
            <a:r>
              <a:rPr sz="1575" b="1">
                <a:solidFill>
                  <a:srgbClr val="111318"/>
                </a:solidFill>
              </a:rPr>
              <a:t>Объяснимо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F20D7C-9F41-4012-A19C-9958D7265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62525"/>
            <a:ext cx="2495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572"/>
                </a:solidFill>
              </a:defRPr>
            </a:pPr>
            <a:r>
              <a:rPr sz="1200" b="0">
                <a:solidFill>
                  <a:srgbClr val="5E6572"/>
                </a:solidFill>
              </a:rPr>
              <a:t>Показывает слова и структурные сигналы риска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C7C639-DC9C-4F22-8D9E-339F21EB2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00300"/>
            <a:ext cx="295275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6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8EFF82-7C1A-4D85-8E65-6881485FC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571750"/>
            <a:ext cx="762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59A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FD1339-E486-4796-8B91-C64CC08FE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62225"/>
            <a:ext cx="236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318"/>
                </a:solidFill>
              </a:defRPr>
            </a:pPr>
            <a:r>
              <a:rPr sz="1575" b="1">
                <a:solidFill>
                  <a:srgbClr val="111318"/>
                </a:solidFill>
              </a:rPr>
              <a:t>Приватно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81AD19-6A7D-4650-A8A3-B273B0FDA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028950"/>
            <a:ext cx="2495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572"/>
                </a:solidFill>
              </a:defRPr>
            </a:pPr>
            <a:r>
              <a:rPr sz="1200" b="0">
                <a:solidFill>
                  <a:srgbClr val="5E6572"/>
                </a:solidFill>
              </a:rPr>
              <a:t>Текст остаётся на локальном компьютере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1B34BB-F696-459C-864D-93462A2F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333875"/>
            <a:ext cx="295275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0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9A0B7C-CFDA-4C37-8BE8-1172DD07B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505325"/>
            <a:ext cx="762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54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A7F283-1EDE-4946-BC7D-8FCEB1AFB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495800"/>
            <a:ext cx="236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318"/>
                </a:solidFill>
              </a:defRPr>
            </a:pPr>
            <a:r>
              <a:rPr sz="1575" b="1">
                <a:solidFill>
                  <a:srgbClr val="111318"/>
                </a:solidFill>
              </a:rPr>
              <a:t>Управляемо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2A1A33-F17D-47BE-8EB3-D6BE83B66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962525"/>
            <a:ext cx="2495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572"/>
                </a:solidFill>
              </a:defRPr>
            </a:pPr>
            <a:r>
              <a:rPr sz="1200" b="0">
                <a:solidFill>
                  <a:srgbClr val="5E6572"/>
                </a:solidFill>
              </a:rPr>
              <a:t>Порог чувствительности выбирает пользователь</a:t>
            </a:r>
          </a:p>
        </p:txBody>
      </p:sp>
    </p:spTree>
    <p:extLst>
      <p:ext uri="{BB962C8B-B14F-4D97-AF65-F5344CB8AC3E}">
        <p14:creationId xmlns:p14="http://schemas.microsoft.com/office/powerpoint/2010/main" val="185479209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CF04146-BD14-4D98-A73E-079ADC9A8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6670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SPAMGUARD • ПРОЕКТНЫЙ ПРАКТИКУМ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466AEA-416C-472B-BCDE-501B1692B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524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318"/>
                </a:solidFill>
              </a:defRPr>
            </a:pPr>
            <a:r>
              <a:rPr sz="3000" b="1">
                <a:solidFill>
                  <a:srgbClr val="111318"/>
                </a:solidFill>
              </a:rPr>
              <a:t>Концепция продукта и роль машинного обучения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159B59-6154-49F3-BF09-E43786969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257300"/>
            <a:ext cx="1123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A3BCAE-1CBF-4848-BA89-EB2C32A4F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8F96A3"/>
                </a:solidFill>
              </a:defRPr>
            </a:pPr>
            <a:r>
              <a:rPr sz="975" b="0">
                <a:solidFill>
                  <a:srgbClr val="8F96A3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BF6D1E-3D9D-4417-A630-D8F68B54E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04950"/>
            <a:ext cx="11239500" cy="895350"/>
          </a:xfrm>
          <a:prstGeom xmlns:a="http://schemas.openxmlformats.org/drawingml/2006/main" prst="roundRect">
            <a:avLst>
              <a:gd name="adj" fmla="val 2127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865B64-9959-4FD7-B73D-1F6073AFD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954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Гипотеза ценности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74C722-96EC-46AE-B3EB-96A8A553D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638300"/>
            <a:ext cx="8477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697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E3A66"/>
                </a:solidFill>
              </a:defRPr>
            </a:pPr>
            <a:r>
              <a:rPr sz="1650" b="1">
                <a:solidFill>
                  <a:srgbClr val="0E3A66"/>
                </a:solidFill>
              </a:rPr>
              <a:t>если дать вероятность, объяснение и следующий безопасный шаг, пользователь быстрее примет решение и реже будет действовать вслепую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5C1D69-5745-41E9-A757-5144CEE7C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67050"/>
            <a:ext cx="1952625" cy="1571625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17CE00-66E9-43AD-B5EF-A15F2164F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3850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917241-6952-44BE-9813-995E29200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9092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318"/>
                </a:solidFill>
              </a:defRPr>
            </a:pPr>
            <a:r>
              <a:rPr sz="1500" b="1">
                <a:solidFill>
                  <a:srgbClr val="111318"/>
                </a:solidFill>
              </a:rPr>
              <a:t>Вход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24F75D-2258-4E01-B87C-75C8BE0F0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10025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Текст сообщения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5BCB47-DF11-427A-A0DE-BD52CA43C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819525"/>
            <a:ext cx="228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36E603-3EAA-4F2E-BB1E-B10ADCCE1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37528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3816A2-11E7-4B1F-8C28-04D548D96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67050"/>
            <a:ext cx="1952625" cy="1571625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AC4170-68D3-4BA1-98B0-1E798A1DE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23850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C0A282-A38D-4E42-832E-3B036382D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59092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318"/>
                </a:solidFill>
              </a:defRPr>
            </a:pPr>
            <a:r>
              <a:rPr sz="1500" b="1">
                <a:solidFill>
                  <a:srgbClr val="111318"/>
                </a:solidFill>
              </a:rPr>
              <a:t>ML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2BF62A-7B17-42BA-B58B-A6C9E1A56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010025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Вероятность spam / ham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886B88-01DA-41A3-A4F6-D36FF559B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3819525"/>
            <a:ext cx="228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BDFE86-E119-4066-8F08-526CE30E3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7528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E4DE52-DA2B-4B34-BDA2-497F78A6B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067050"/>
            <a:ext cx="1952625" cy="1571625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ECB9AC-7F59-4227-9194-5D4277547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23850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D8BFC1-90D4-4C34-BEC8-A6C6C8388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59092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318"/>
                </a:solidFill>
              </a:defRPr>
            </a:pPr>
            <a:r>
              <a:rPr sz="1500" b="1">
                <a:solidFill>
                  <a:srgbClr val="111318"/>
                </a:solidFill>
              </a:rPr>
              <a:t>Объяснение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B87054-08FD-4F64-8104-BC82D3C81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010025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Слова + сигналы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1F16DD7-7CBA-4D0C-9B5F-6CD685201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2775" y="3819525"/>
            <a:ext cx="228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CB0E3A-3C68-48B1-9C3A-C3034FC6A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528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50E541-C351-42A3-B7B1-CBE02A74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067050"/>
            <a:ext cx="1952625" cy="1571625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6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CD139C-D3ED-439E-995A-7205C92A3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23850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9717A61-7662-44AC-AED2-D1B0442AE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9092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318"/>
                </a:solidFill>
              </a:defRPr>
            </a:pPr>
            <a:r>
              <a:rPr sz="1500" b="1">
                <a:solidFill>
                  <a:srgbClr val="111318"/>
                </a:solidFill>
              </a:rPr>
              <a:t>Контроль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D5358CC-319C-4779-B0CD-F5E69AE82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010025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Порог 0,20–0,80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F861E4-8D5B-4B31-904E-C380FCCED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3819525"/>
            <a:ext cx="228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8A68A53-0D4D-404E-A3AC-DCD1C97C9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7528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16359B5-38E0-43AD-8C2B-D46F6CC16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067050"/>
            <a:ext cx="1952625" cy="1571625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0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4881F7F-FDC1-47F1-A026-BF7AE85A2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23850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25C61C5-0DB2-47A3-A1CC-15BF09007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590925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318"/>
                </a:solidFill>
              </a:defRPr>
            </a:pPr>
            <a:r>
              <a:rPr sz="1500" b="1">
                <a:solidFill>
                  <a:srgbClr val="111318"/>
                </a:solidFill>
              </a:rPr>
              <a:t>Результат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64E7B59-B78F-48AC-BADF-BA58925C2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010025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Безопасное действие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2462E7E-222F-43EC-B603-FF1945353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238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3D8DFF"/>
                </a:solidFill>
              </a:defRPr>
            </a:pPr>
            <a:r>
              <a:rPr sz="1425" b="1">
                <a:solidFill>
                  <a:srgbClr val="3D8DFF"/>
                </a:solidFill>
              </a:rPr>
              <a:t>Что даёт ML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F5F4E6D-3E00-4272-AB95-4F7BB85D9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219700"/>
            <a:ext cx="885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318"/>
                </a:solidFill>
              </a:defRPr>
            </a:pPr>
            <a:r>
              <a:rPr sz="1650" b="1">
                <a:solidFill>
                  <a:srgbClr val="111318"/>
                </a:solidFill>
              </a:rPr>
              <a:t>обобщает тысячи примеров и выдаёт непрерывный риск, а не набор жёстких правил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D03C8E5-3767-40E9-9B34-4E5080FC3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857875"/>
            <a:ext cx="1085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8F96A3"/>
                </a:solidFill>
              </a:defRPr>
            </a:pPr>
            <a:r>
              <a:rPr sz="1200" b="0">
                <a:solidFill>
                  <a:srgbClr val="8F96A3"/>
                </a:solidFill>
              </a:rPr>
              <a:t>Ограничение: объяснение показывает коррелирующие признаки модели, а не доказательство мошенничества.</a:t>
            </a:r>
          </a:p>
        </p:txBody>
      </p:sp>
    </p:spTree>
    <p:extLst>
      <p:ext uri="{BB962C8B-B14F-4D97-AF65-F5344CB8AC3E}">
        <p14:creationId xmlns:p14="http://schemas.microsoft.com/office/powerpoint/2010/main" val="184200878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D293E5-3FEA-4B3E-9297-D2DD5A2E8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6670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SPAMGUARD • ПРОЕКТНЫЙ ПРАКТИКУМ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1225D6-929B-4447-83F5-4E7679FB8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524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318"/>
                </a:solidFill>
              </a:defRPr>
            </a:pPr>
            <a:r>
              <a:rPr sz="3000" b="1">
                <a:solidFill>
                  <a:srgbClr val="111318"/>
                </a:solidFill>
              </a:rPr>
              <a:t>Три пользовательских сценария MVP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BED19A-307D-4F0F-92CF-CE4137D0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257300"/>
            <a:ext cx="1123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FBA327-C36F-499D-BE30-99959CAC6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8F96A3"/>
                </a:solidFill>
              </a:defRPr>
            </a:pPr>
            <a:r>
              <a:rPr sz="975" b="0">
                <a:solidFill>
                  <a:srgbClr val="8F96A3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E1D9F8-760D-4AC9-9AA5-C3085A6E2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81150"/>
            <a:ext cx="11239500" cy="1257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9399F0-DDF8-4DA0-9A6D-24B13FE20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47850"/>
            <a:ext cx="76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D8DFF"/>
                </a:solidFill>
              </a:defRPr>
            </a:pPr>
            <a:r>
              <a:rPr sz="2400" b="1">
                <a:solidFill>
                  <a:srgbClr val="3D8DFF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447855-7C68-45D7-83CF-9EFFB8DCD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8097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318"/>
                </a:solidFill>
              </a:defRPr>
            </a:pPr>
            <a:r>
              <a:rPr sz="1650" b="1">
                <a:solidFill>
                  <a:srgbClr val="111318"/>
                </a:solidFill>
              </a:rPr>
              <a:t>Разовая проверка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C0F1B3-F125-4E98-A761-B619DF24B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2098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</a:defRPr>
            </a:pPr>
            <a:r>
              <a:rPr sz="1125" b="1">
                <a:solidFill>
                  <a:srgbClr val="3D8DFF"/>
                </a:solidFill>
              </a:rPr>
              <a:t>Главный сценарий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CD5919-7222-4C2D-91E9-68EA258F0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819275"/>
            <a:ext cx="276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572"/>
                </a:solidFill>
              </a:defRPr>
            </a:pPr>
            <a:r>
              <a:rPr sz="1350" b="0">
                <a:solidFill>
                  <a:srgbClr val="5E6572"/>
                </a:solidFill>
              </a:rPr>
              <a:t>Вставить одно сообщение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019F0B-1A38-476C-B59E-1F7FF460D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952625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D8DFF"/>
                </a:solidFill>
              </a:defRPr>
            </a:pPr>
            <a:r>
              <a:rPr sz="2100" b="1">
                <a:solidFill>
                  <a:srgbClr val="3D8DFF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FCEBE5-9940-4B09-926A-09777594D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09750"/>
            <a:ext cx="323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318"/>
                </a:solidFill>
              </a:defRPr>
            </a:pPr>
            <a:r>
              <a:rPr sz="1350" b="1">
                <a:solidFill>
                  <a:srgbClr val="111318"/>
                </a:solidFill>
              </a:rPr>
              <a:t>Получить риск, класс, язык и объяснение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EA5F7C-13FB-454B-8758-426F34B2D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86100"/>
            <a:ext cx="11239500" cy="1257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1DA682-A1DA-41C4-BBDB-4D184C5C4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52800"/>
            <a:ext cx="76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2D9D78"/>
                </a:solidFill>
              </a:defRPr>
            </a:pPr>
            <a:r>
              <a:rPr sz="2400" b="1">
                <a:solidFill>
                  <a:srgbClr val="2D9D78"/>
                </a:solidFill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6C330B-8105-4553-9C8B-4146DABA8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3147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318"/>
                </a:solidFill>
              </a:defRPr>
            </a:pPr>
            <a:r>
              <a:rPr sz="1650" b="1">
                <a:solidFill>
                  <a:srgbClr val="111318"/>
                </a:solidFill>
              </a:rPr>
              <a:t>Пакетная обработка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32F6FB-94E0-465D-8EAA-5F4EBF4A8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147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D9D78"/>
                </a:solidFill>
              </a:defRPr>
            </a:pPr>
            <a:r>
              <a:rPr sz="1125" b="1">
                <a:solidFill>
                  <a:srgbClr val="2D9D78"/>
                </a:solidFill>
              </a:rPr>
              <a:t>Для команд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23BE9A-F760-4107-9174-6685E0E5B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324225"/>
            <a:ext cx="276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572"/>
                </a:solidFill>
              </a:defRPr>
            </a:pPr>
            <a:r>
              <a:rPr sz="1350" b="0">
                <a:solidFill>
                  <a:srgbClr val="5E6572"/>
                </a:solidFill>
              </a:rPr>
              <a:t>Загрузить CSV или TXT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A3B9DB-679A-4745-933B-4306A6DCB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457575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D9D78"/>
                </a:solidFill>
              </a:defRPr>
            </a:pPr>
            <a:r>
              <a:rPr sz="2100" b="1">
                <a:solidFill>
                  <a:srgbClr val="2D9D78"/>
                </a:solidFill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AB2262-A56C-49D7-9390-0F564C93F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314700"/>
            <a:ext cx="323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318"/>
                </a:solidFill>
              </a:defRPr>
            </a:pPr>
            <a:r>
              <a:rPr sz="1350" b="1">
                <a:solidFill>
                  <a:srgbClr val="111318"/>
                </a:solidFill>
              </a:rPr>
              <a:t>Проверить до 1 000 строк и скачать результат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6BA113-80F1-4C5A-96E8-184B0EED5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591050"/>
            <a:ext cx="11239500" cy="12573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6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3E43C4-1557-4AAB-864A-8FED71A8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57750"/>
            <a:ext cx="76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E59A2F"/>
                </a:solidFill>
              </a:defRPr>
            </a:pPr>
            <a:r>
              <a:rPr sz="2400" b="1">
                <a:solidFill>
                  <a:srgbClr val="E59A2F"/>
                </a:solidFill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59B33B-7C55-4CA9-AFCC-C9ECF97BE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196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318"/>
                </a:solidFill>
              </a:defRPr>
            </a:pPr>
            <a:r>
              <a:rPr sz="1650" b="1">
                <a:solidFill>
                  <a:srgbClr val="111318"/>
                </a:solidFill>
              </a:rPr>
              <a:t>Аналитика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F645E08-EE29-46F7-8727-D04F4D110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219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59A2F"/>
                </a:solidFill>
              </a:defRPr>
            </a:pPr>
            <a:r>
              <a:rPr sz="1125" b="1">
                <a:solidFill>
                  <a:srgbClr val="E59A2F"/>
                </a:solidFill>
              </a:rPr>
              <a:t>Для преподавателя / аналитика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1C6096-5A78-4CF6-97E8-1A14C1AC9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829175"/>
            <a:ext cx="276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572"/>
                </a:solidFill>
              </a:defRPr>
            </a:pPr>
            <a:r>
              <a:rPr sz="1350" b="0">
                <a:solidFill>
                  <a:srgbClr val="5E6572"/>
                </a:solidFill>
              </a:rPr>
              <a:t>Открыть методологию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FFC659-38F2-4516-9CB7-C42BEE3E4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962525"/>
            <a:ext cx="57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E59A2F"/>
                </a:solidFill>
              </a:defRPr>
            </a:pPr>
            <a:r>
              <a:rPr sz="2100" b="1">
                <a:solidFill>
                  <a:srgbClr val="E59A2F"/>
                </a:solidFill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F74968-0079-41EC-AE4D-19EE08D5F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19650"/>
            <a:ext cx="323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318"/>
                </a:solidFill>
              </a:defRPr>
            </a:pPr>
            <a:r>
              <a:rPr sz="1350" b="1">
                <a:solidFill>
                  <a:srgbClr val="111318"/>
                </a:solidFill>
              </a:rPr>
              <a:t>Сравнить метрики, языки и матрицу ошибок</a:t>
            </a:r>
          </a:p>
        </p:txBody>
      </p:sp>
    </p:spTree>
    <p:extLst>
      <p:ext uri="{BB962C8B-B14F-4D97-AF65-F5344CB8AC3E}">
        <p14:creationId xmlns:p14="http://schemas.microsoft.com/office/powerpoint/2010/main" val="17071054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3D8BD0-0602-41BF-92B9-DBCE78DEE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6670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SPAMGUARD • ПРОЕКТНЫЙ ПРАКТИКУМ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A41B8D-2AFA-4476-949C-8BEA77094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524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318"/>
                </a:solidFill>
              </a:defRPr>
            </a:pPr>
            <a:r>
              <a:rPr sz="3000" b="1">
                <a:solidFill>
                  <a:srgbClr val="111318"/>
                </a:solidFill>
              </a:rPr>
              <a:t>MVP: один экран — одно понятное действие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896BE3-D035-407A-AA25-70DB9CADA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257300"/>
            <a:ext cx="1123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1BB9C0-14A5-4359-BD9A-E6F77808B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8F96A3"/>
                </a:solidFill>
              </a:defRPr>
            </a:pPr>
            <a:r>
              <a:rPr sz="975" b="0">
                <a:solidFill>
                  <a:srgbClr val="8F96A3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541F3A-9426-431F-AE4D-D08995F4F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09700"/>
            <a:ext cx="7010400" cy="4705350"/>
          </a:xfrm>
          <a:prstGeom xmlns:a="http://schemas.openxmlformats.org/drawingml/2006/main" prst="roundRect">
            <a:avLst>
              <a:gd name="adj" fmla="val 4858"/>
            </a:avLst>
          </a:prstGeom>
          <a:solidFill xmlns:a="http://schemas.openxmlformats.org/drawingml/2006/main">
            <a:srgbClr val="E9EDF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c41ad718b94032"/>
          <a:srcRect xmlns:a="http://schemas.openxmlformats.org/drawingml/2006/main" l="0" t="15882" r="0" b="158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" y="1485900"/>
            <a:ext cx="6858000" cy="4552950"/>
          </a:xfrm>
          <a:prstGeom xmlns:a="http://schemas.openxmlformats.org/drawingml/2006/main" prst="roundRect">
            <a:avLst>
              <a:gd name="adj" fmla="val 3347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4934C2-DF6B-4C3B-B33E-3401C8CE5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5811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318"/>
                </a:solidFill>
              </a:defRPr>
            </a:pPr>
            <a:r>
              <a:rPr sz="1875" b="1">
                <a:solidFill>
                  <a:srgbClr val="111318"/>
                </a:solidFill>
              </a:rPr>
              <a:t>Что уже работает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45DA75-8A65-4588-A4AE-9E1A47C92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1717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81125B-49CA-426E-9738-E9FB5C410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2669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572263-D403-483C-834B-512FD413D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17170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318"/>
                </a:solidFill>
              </a:defRPr>
            </a:pPr>
            <a:r>
              <a:rPr sz="1500" b="1">
                <a:solidFill>
                  <a:srgbClr val="111318"/>
                </a:solidFill>
              </a:rPr>
              <a:t>Выбор языка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78F5E9-763D-49BF-8A11-B465C193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2514600"/>
            <a:ext cx="2819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572"/>
                </a:solidFill>
              </a:defRPr>
            </a:pPr>
            <a:r>
              <a:rPr sz="1200" b="0">
                <a:solidFill>
                  <a:srgbClr val="5E6572"/>
                </a:solidFill>
              </a:rPr>
              <a:t>Русский, английский или испанский интерфейс.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554401-D34D-4903-B9CD-62B7E687D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2385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9D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64AC82-7AC2-422E-8459-A7E303FC1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3337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638B0A-D007-4187-8044-287CE0DC9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323850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318"/>
                </a:solidFill>
              </a:defRPr>
            </a:pPr>
            <a:r>
              <a:rPr sz="1500" b="1">
                <a:solidFill>
                  <a:srgbClr val="111318"/>
                </a:solidFill>
              </a:rPr>
              <a:t>Ввод текста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1813F6-07EB-4D38-8815-344C7533A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3581400"/>
            <a:ext cx="2819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572"/>
                </a:solidFill>
              </a:defRPr>
            </a:pPr>
            <a:r>
              <a:rPr sz="1200" b="0">
                <a:solidFill>
                  <a:srgbClr val="5E6572"/>
                </a:solidFill>
              </a:rPr>
              <a:t>Пример можно вставить вручную или взять из шаблона.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2F5765-131D-4CDD-AC53-B00DBE3BC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3053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9A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A14FC7-219D-4412-9073-E636A7A2A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055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A27273-3C93-4F98-9CB6-4AAFC7FEA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430530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318"/>
                </a:solidFill>
              </a:defRPr>
            </a:pPr>
            <a:r>
              <a:rPr sz="1500" b="1">
                <a:solidFill>
                  <a:srgbClr val="111318"/>
                </a:solidFill>
              </a:rPr>
              <a:t>Чувствительность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A2839F-E253-42F4-9D25-6A9C41887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4648200"/>
            <a:ext cx="2819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572"/>
                </a:solidFill>
              </a:defRPr>
            </a:pPr>
            <a:r>
              <a:rPr sz="1200" b="0">
                <a:solidFill>
                  <a:srgbClr val="5E6572"/>
                </a:solidFill>
              </a:rPr>
              <a:t>Порог меняется без переобучения модели.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3BA7DF-77BC-4E8E-B440-7D549DC98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467350"/>
            <a:ext cx="3429000" cy="57150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111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BD600A-39E2-4129-8BFE-F5669481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62927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Локально: текст не уходит во внешний API</a:t>
            </a:r>
          </a:p>
        </p:txBody>
      </p:sp>
    </p:spTree>
    <p:extLst>
      <p:ext uri="{BB962C8B-B14F-4D97-AF65-F5344CB8AC3E}">
        <p14:creationId xmlns:p14="http://schemas.microsoft.com/office/powerpoint/2010/main" val="64639347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BDD7C8-B064-4016-8017-AE7B3D06A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6670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SPAMGUARD • ПРОЕКТНЫЙ ПРАКТИКУМ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97B961-65BE-4BA0-B61D-0C9BB51A6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524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318"/>
                </a:solidFill>
              </a:defRPr>
            </a:pPr>
            <a:r>
              <a:rPr sz="3000" b="1">
                <a:solidFill>
                  <a:srgbClr val="111318"/>
                </a:solidFill>
              </a:rPr>
              <a:t>Результат не просто «спам / не спам», а объяснение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E605D1-37C5-4EF4-BB4B-72BDCEE6E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257300"/>
            <a:ext cx="1123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FEE75F-FCBB-41AF-A839-D0F7530DE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8F96A3"/>
                </a:solidFill>
              </a:defRPr>
            </a:pPr>
            <a:r>
              <a:rPr sz="975" b="0">
                <a:solidFill>
                  <a:srgbClr val="8F96A3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B4BCCB-459F-4FC2-B7F8-F322E818E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6210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318"/>
                </a:solidFill>
              </a:defRPr>
            </a:pPr>
            <a:r>
              <a:rPr sz="1875" b="1">
                <a:solidFill>
                  <a:srgbClr val="111318"/>
                </a:solidFill>
              </a:rPr>
              <a:t>Пользователь получает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4F44EF-78B2-4B1A-AD04-0D574C71A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076450"/>
            <a:ext cx="4524375" cy="10668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05A811-5A5B-4545-A9A7-899883D0C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47900"/>
            <a:ext cx="762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E6DD80-8AE4-49B7-8588-512D7ED6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38375"/>
            <a:ext cx="39338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318"/>
                </a:solidFill>
              </a:defRPr>
            </a:pPr>
            <a:r>
              <a:rPr sz="1575" b="1">
                <a:solidFill>
                  <a:srgbClr val="111318"/>
                </a:solidFill>
              </a:rPr>
              <a:t>1. Вероятность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1994E8-6496-49F9-B73D-1CEC5C86B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05100"/>
            <a:ext cx="4067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216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572"/>
                </a:solidFill>
              </a:defRPr>
            </a:pPr>
            <a:r>
              <a:rPr sz="1200" b="0">
                <a:solidFill>
                  <a:srgbClr val="5E6572"/>
                </a:solidFill>
              </a:rPr>
              <a:t>Непрерывная оценка риска, чтобы видеть уверенность модели.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C831FB-16F1-4420-B7A0-7BFAE2E85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314700"/>
            <a:ext cx="4524375" cy="10668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D10634-D92D-4427-94A5-77325D04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86150"/>
            <a:ext cx="762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9D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78863D-D0D1-43E9-9585-6DE5FD590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76625"/>
            <a:ext cx="39338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318"/>
                </a:solidFill>
              </a:defRPr>
            </a:pPr>
            <a:r>
              <a:rPr sz="1575" b="1">
                <a:solidFill>
                  <a:srgbClr val="111318"/>
                </a:solidFill>
              </a:rPr>
              <a:t>2. Причины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2C2B0A-B819-43CC-BAE9-11E58E384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43350"/>
            <a:ext cx="4067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559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572"/>
                </a:solidFill>
              </a:defRPr>
            </a:pPr>
            <a:r>
              <a:rPr sz="1200" b="0">
                <a:solidFill>
                  <a:srgbClr val="5E6572"/>
                </a:solidFill>
              </a:rPr>
              <a:t>Важные слова и сигналы: ссылка, сумма, срочность, награда, восклицания.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F87A3D-3BB9-4103-A22D-86A8DE98F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552950"/>
            <a:ext cx="4524375" cy="10668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FFF0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48D8F1-4C79-49F9-B0C4-88058C2B8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24400"/>
            <a:ext cx="762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54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1B6C15-1BDD-4616-B087-1EBC21A27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14875"/>
            <a:ext cx="39338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318"/>
                </a:solidFill>
              </a:defRPr>
            </a:pPr>
            <a:r>
              <a:rPr sz="1575" b="1">
                <a:solidFill>
                  <a:srgbClr val="111318"/>
                </a:solidFill>
              </a:rPr>
              <a:t>3. Следующий шаг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EB84F4-24E0-4B1D-83BD-850A3AD0B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81600"/>
            <a:ext cx="4067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8125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572"/>
                </a:solidFill>
              </a:defRPr>
            </a:pPr>
            <a:r>
              <a:rPr sz="1200" b="0">
                <a:solidFill>
                  <a:srgbClr val="5E6572"/>
                </a:solidFill>
              </a:rPr>
              <a:t>Не считать прогноз доказательством: перепроверить отправителя и не передавать данные.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61AC97-44A5-417A-9007-9528F7DB9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409700"/>
            <a:ext cx="5772150" cy="4705350"/>
          </a:xfrm>
          <a:prstGeom xmlns:a="http://schemas.openxmlformats.org/drawingml/2006/main" prst="roundRect">
            <a:avLst>
              <a:gd name="adj" fmla="val 4858"/>
            </a:avLst>
          </a:prstGeom>
          <a:solidFill xmlns:a="http://schemas.openxmlformats.org/drawingml/2006/main">
            <a:srgbClr val="E9EDF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5e3483e8ff481e"/>
          <a:srcRect xmlns:a="http://schemas.openxmlformats.org/drawingml/2006/main" l="0" t="8365" r="0" b="83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19750" y="1485900"/>
            <a:ext cx="5619750" cy="4552950"/>
          </a:xfrm>
          <a:prstGeom xmlns:a="http://schemas.openxmlformats.org/drawingml/2006/main" prst="roundRect">
            <a:avLst>
              <a:gd name="adj" fmla="val 3347"/>
            </a:avLst>
          </a:prstGeom>
        </p:spPr>
      </p:pic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39E573-357A-46D7-9790-594FFD937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133600"/>
            <a:ext cx="1257300" cy="876300"/>
          </a:xfrm>
          <a:prstGeom xmlns:a="http://schemas.openxmlformats.org/drawingml/2006/main" prst="roundRect">
            <a:avLst>
              <a:gd name="adj" fmla="val 19565"/>
            </a:avLst>
          </a:prstGeom>
          <a:solidFill xmlns:a="http://schemas.openxmlformats.org/drawingml/2006/main">
            <a:srgbClr val="111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B87A96-00FD-4855-B90B-C806F7C67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276475"/>
            <a:ext cx="990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95%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44B031-D706-4CCD-8F56-DAECFAE8A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6955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DCBF4"/>
                </a:solidFill>
              </a:defRPr>
            </a:pPr>
            <a:r>
              <a:rPr sz="900" b="1">
                <a:solidFill>
                  <a:srgbClr val="6DCBF4"/>
                </a:solidFill>
              </a:rPr>
              <a:t>ТЕКУЩИЙ РИСК</a:t>
            </a:r>
          </a:p>
        </p:txBody>
      </p:sp>
    </p:spTree>
    <p:extLst>
      <p:ext uri="{BB962C8B-B14F-4D97-AF65-F5344CB8AC3E}">
        <p14:creationId xmlns:p14="http://schemas.microsoft.com/office/powerpoint/2010/main" val="48894909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CB436C5-2212-460C-A08B-51C54E91C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6670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SPAMGUARD • ПРОЕКТНЫЙ ПРАКТИКУМ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0C4B27-E265-4D0E-B90F-8C9F908FD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524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318"/>
                </a:solidFill>
              </a:defRPr>
            </a:pPr>
            <a:r>
              <a:rPr sz="3000" b="1">
                <a:solidFill>
                  <a:srgbClr val="111318"/>
                </a:solidFill>
              </a:rPr>
              <a:t>Данные: два открытых корпуса + испанский demo‑блок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E05E1E-5BF9-4CF0-9DBA-3728AC868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257300"/>
            <a:ext cx="1123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8BFDCB-3CAC-4057-8E88-D2829C696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8F96A3"/>
                </a:solidFill>
              </a:defRPr>
            </a:pPr>
            <a:r>
              <a:rPr sz="975" b="0">
                <a:solidFill>
                  <a:srgbClr val="8F96A3"/>
                </a:solidFill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F1FFE3-1515-4D63-BCE2-8292E32C7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24000"/>
            <a:ext cx="3429000" cy="15240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A8C73D-71BD-4D3F-80A6-64563F471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762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ABF5E5-88EA-4B90-AE22-8D8059F04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85925"/>
            <a:ext cx="2838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318"/>
                </a:solidFill>
              </a:defRPr>
            </a:pPr>
            <a:r>
              <a:rPr sz="1575" b="1">
                <a:solidFill>
                  <a:srgbClr val="111318"/>
                </a:solidFill>
              </a:rPr>
              <a:t>English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90519A-F3B2-4A35-B95F-C10837AF4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52650"/>
            <a:ext cx="2971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UCI SMS Spam Collection</a:t>
            </a:r>
          </a:p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5 157 строк после очистки</a:t>
            </a:r>
          </a:p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реальные SMS, ham / spam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9FA276-885B-40E7-85CB-2DCBC3CCD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524000"/>
            <a:ext cx="3429000" cy="15240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7D5385-5C13-4D9D-9C49-064B2EAB2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695450"/>
            <a:ext cx="762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9D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FC1311-452E-4F9C-89CE-4FA5BF733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685925"/>
            <a:ext cx="2838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318"/>
                </a:solidFill>
              </a:defRPr>
            </a:pPr>
            <a:r>
              <a:rPr sz="1575" b="1">
                <a:solidFill>
                  <a:srgbClr val="111318"/>
                </a:solidFill>
              </a:rPr>
              <a:t>Русский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F5D7DA-1F07-4CF4-B248-E22EC18C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152650"/>
            <a:ext cx="2971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DmitryKRX/anti_spam_ru</a:t>
            </a:r>
          </a:p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фиксированная выборка 20 000</a:t>
            </a:r>
          </a:p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из корпуса 66 119 строк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4A593E-3D78-49B1-A8F5-F26EFD0F6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524000"/>
            <a:ext cx="3429000" cy="15240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6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F55AD2-526F-49C0-BAB0-473A284A0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95450"/>
            <a:ext cx="762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59A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D320E5-19B3-44EA-A9A8-9A0E61FA2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685925"/>
            <a:ext cx="2838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318"/>
                </a:solidFill>
              </a:defRPr>
            </a:pPr>
            <a:r>
              <a:rPr sz="1575" b="1">
                <a:solidFill>
                  <a:srgbClr val="111318"/>
                </a:solidFill>
              </a:rPr>
              <a:t>Español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D4CC97-10F5-4393-9A50-DBD8070A6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152650"/>
            <a:ext cx="2971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87 синтетических примеров</a:t>
            </a:r>
          </a:p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только демонстрация интерфейса</a:t>
            </a:r>
          </a:p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не production‑валидация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418982-E9FC-4EB4-88C0-62E09B0BB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781425"/>
            <a:ext cx="1981200" cy="1066800"/>
          </a:xfrm>
          <a:prstGeom xmlns:a="http://schemas.openxmlformats.org/drawingml/2006/main" prst="roundRect">
            <a:avLst>
              <a:gd name="adj" fmla="val 16071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F8A106-92C9-4795-9E96-1AE724641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243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</a:defRPr>
            </a:pPr>
            <a:r>
              <a:rPr sz="1125" b="1">
                <a:solidFill>
                  <a:srgbClr val="3D8DFF"/>
                </a:solidFill>
              </a:rPr>
              <a:t>01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E1E288-E533-4251-8309-EC502DE81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57675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318"/>
                </a:solidFill>
              </a:defRPr>
            </a:pPr>
            <a:r>
              <a:rPr sz="1275" b="1">
                <a:solidFill>
                  <a:srgbClr val="111318"/>
                </a:solidFill>
              </a:rPr>
              <a:t>Unicode‑нормализация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E84245-DD36-4143-9A0B-6122CAD8C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7925" y="417195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CDD5"/>
                </a:solidFill>
              </a:defRPr>
            </a:pPr>
            <a:r>
              <a:rPr sz="1650" b="1">
                <a:solidFill>
                  <a:srgbClr val="C8CDD5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E35A5C-109C-4654-AB47-C09D3C3E6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781425"/>
            <a:ext cx="1981200" cy="1066800"/>
          </a:xfrm>
          <a:prstGeom xmlns:a="http://schemas.openxmlformats.org/drawingml/2006/main" prst="roundRect">
            <a:avLst>
              <a:gd name="adj" fmla="val 16071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A489EA-863B-43F1-8421-E303DE2BD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9243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</a:defRPr>
            </a:pPr>
            <a:r>
              <a:rPr sz="1125" b="1">
                <a:solidFill>
                  <a:srgbClr val="3D8DFF"/>
                </a:solidFill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524627-5754-41AC-AD4E-FDFEAEB9D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257675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318"/>
                </a:solidFill>
              </a:defRPr>
            </a:pPr>
            <a:r>
              <a:rPr sz="1275" b="1">
                <a:solidFill>
                  <a:srgbClr val="111318"/>
                </a:solidFill>
              </a:rPr>
              <a:t>Удаление дубликатов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560E9C2-20DA-41A0-9978-956F0D64D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17195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CDD5"/>
                </a:solidFill>
              </a:defRPr>
            </a:pPr>
            <a:r>
              <a:rPr sz="1650" b="1">
                <a:solidFill>
                  <a:srgbClr val="C8CDD5"/>
                </a:solidFill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735BEF-F136-4D43-B033-137D4EA91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781425"/>
            <a:ext cx="1981200" cy="1066800"/>
          </a:xfrm>
          <a:prstGeom xmlns:a="http://schemas.openxmlformats.org/drawingml/2006/main" prst="roundRect">
            <a:avLst>
              <a:gd name="adj" fmla="val 16071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774529-719D-42DD-8694-7336C4B0F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9243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</a:defRPr>
            </a:pPr>
            <a:r>
              <a:rPr sz="1125" b="1">
                <a:solidFill>
                  <a:srgbClr val="3D8DFF"/>
                </a:solidFill>
              </a:rPr>
              <a:t>03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09E8CC-C502-418D-A7BE-5DC1B069C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257675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318"/>
                </a:solidFill>
              </a:defRPr>
            </a:pPr>
            <a:r>
              <a:rPr sz="1275" b="1">
                <a:solidFill>
                  <a:srgbClr val="111318"/>
                </a:solidFill>
              </a:rPr>
              <a:t>Стратификация language × label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340DE2B-9BC4-4E9C-B30B-6D2286504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1825" y="417195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CDD5"/>
                </a:solidFill>
              </a:defRPr>
            </a:pPr>
            <a:r>
              <a:rPr sz="1650" b="1">
                <a:solidFill>
                  <a:srgbClr val="C8CDD5"/>
                </a:solidFill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D90421-6E51-4E47-B4DD-C6192BEF8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781425"/>
            <a:ext cx="1981200" cy="1066800"/>
          </a:xfrm>
          <a:prstGeom xmlns:a="http://schemas.openxmlformats.org/drawingml/2006/main" prst="roundRect">
            <a:avLst>
              <a:gd name="adj" fmla="val 16071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4CF6A15-AC24-40C7-A3FE-82F7811AA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9243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D8DFF"/>
                </a:solidFill>
              </a:defRPr>
            </a:pPr>
            <a:r>
              <a:rPr sz="1125" b="1">
                <a:solidFill>
                  <a:srgbClr val="3D8DFF"/>
                </a:solidFill>
              </a:rPr>
              <a:t>04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229933B-BC43-41CB-974B-FFCDCC7E1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57675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318"/>
                </a:solidFill>
              </a:defRPr>
            </a:pPr>
            <a:r>
              <a:rPr sz="1275" b="1">
                <a:solidFill>
                  <a:srgbClr val="111318"/>
                </a:solidFill>
              </a:rPr>
              <a:t>Train 80% / Test 20%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68524F-604C-489E-90CC-B9FE52DE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417195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C8CDD5"/>
                </a:solidFill>
              </a:defRPr>
            </a:pPr>
            <a:r>
              <a:rPr sz="1650" b="1">
                <a:solidFill>
                  <a:srgbClr val="C8CDD5"/>
                </a:solidFill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02C932-1242-4F02-BEB2-D7C66B430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781425"/>
            <a:ext cx="1981200" cy="1066800"/>
          </a:xfrm>
          <a:prstGeom xmlns:a="http://schemas.openxmlformats.org/drawingml/2006/main" prst="roundRect">
            <a:avLst>
              <a:gd name="adj" fmla="val 16071"/>
            </a:avLst>
          </a:prstGeom>
          <a:solidFill xmlns:a="http://schemas.openxmlformats.org/drawingml/2006/main">
            <a:srgbClr val="111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F0FAD2F-4275-4782-AB88-D7E239DD5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9243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CBF4"/>
                </a:solidFill>
              </a:defRPr>
            </a:pPr>
            <a:r>
              <a:rPr sz="1125" b="1">
                <a:solidFill>
                  <a:srgbClr val="6DCBF4"/>
                </a:solidFill>
              </a:rPr>
              <a:t>05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65DDA71-8856-4C19-8E4B-343614161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257675"/>
            <a:ext cx="167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Фиксация random_state = 42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D7D7AEC-7E50-4287-89D9-96D18F743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05425"/>
            <a:ext cx="112395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0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C42C68E-2934-4D2A-AF21-5D7D96654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05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3545B"/>
                </a:solidFill>
              </a:defRPr>
            </a:pPr>
            <a:r>
              <a:rPr sz="1350" b="1">
                <a:solidFill>
                  <a:srgbClr val="E3545B"/>
                </a:solidFill>
              </a:rPr>
              <a:t>Почему дедупликация до split важна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BAC5626-9D54-4457-8813-C1607CFBC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547687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80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318"/>
                </a:solidFill>
              </a:defRPr>
            </a:pPr>
            <a:r>
              <a:rPr sz="1500" b="1">
                <a:solidFill>
                  <a:srgbClr val="111318"/>
                </a:solidFill>
              </a:rPr>
              <a:t>одинаковое сообщение не должно попасть и в обучение, и в тест — иначе метрики будут завышены</a:t>
            </a:r>
          </a:p>
        </p:txBody>
      </p:sp>
    </p:spTree>
    <p:extLst>
      <p:ext uri="{BB962C8B-B14F-4D97-AF65-F5344CB8AC3E}">
        <p14:creationId xmlns:p14="http://schemas.microsoft.com/office/powerpoint/2010/main" val="38168610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DCB325-747D-4DAA-9017-32050440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6670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SPAMGUARD • ПРОЕКТНЫЙ ПРАКТИКУМ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CEF397-B4C3-427E-82AF-071972B62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524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318"/>
                </a:solidFill>
              </a:defRPr>
            </a:pPr>
            <a:r>
              <a:rPr sz="3000" b="1">
                <a:solidFill>
                  <a:srgbClr val="111318"/>
                </a:solidFill>
              </a:rPr>
              <a:t>Состав рабочего датасета после дедупликации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33C7CD-40F5-4568-AD06-C01E64905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257300"/>
            <a:ext cx="1123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C3871B-5338-4541-B28C-46CC2709A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8F96A3"/>
                </a:solidFill>
              </a:defRPr>
            </a:pPr>
            <a:r>
              <a:rPr sz="975" b="0">
                <a:solidFill>
                  <a:srgbClr val="8F96A3"/>
                </a:solidFill>
              </a:rPr>
              <a:t>13</a:t>
            </a:r>
          </a:p>
        </p:txBody>
      </p:sp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428625" y="1571625"/>
          <a:ext xmlns:a="http://schemas.openxmlformats.org/drawingml/2006/main" cx="7096125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2234246bd23433d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E18D5D-7425-4993-BBC3-597922C97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57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3D8DFF"/>
                </a:solidFill>
              </a:defRPr>
            </a:pPr>
            <a:r>
              <a:rPr sz="3300" b="1">
                <a:solidFill>
                  <a:srgbClr val="3D8DFF"/>
                </a:solidFill>
              </a:rPr>
              <a:t>24 838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CDF738-E7C2-4CC8-BD6C-2F8CFC6D5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266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E6572"/>
                </a:solidFill>
              </a:defRPr>
            </a:pPr>
            <a:r>
              <a:rPr sz="1350" b="0">
                <a:solidFill>
                  <a:srgbClr val="5E6572"/>
                </a:solidFill>
              </a:rPr>
              <a:t>уникальных сообщений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196A49-CAF7-4209-B566-A041616D6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838450"/>
            <a:ext cx="3333750" cy="1123950"/>
          </a:xfrm>
          <a:prstGeom xmlns:a="http://schemas.openxmlformats.org/drawingml/2006/main" prst="roundRect">
            <a:avLst>
              <a:gd name="adj" fmla="val 16949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4B1C40-7C77-473C-A1E8-80C697952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009900"/>
            <a:ext cx="762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9D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E11AFD-978C-48B3-8D9B-85D3A410E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00375"/>
            <a:ext cx="274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318"/>
                </a:solidFill>
              </a:defRPr>
            </a:pPr>
            <a:r>
              <a:rPr sz="1575" b="1">
                <a:solidFill>
                  <a:srgbClr val="111318"/>
                </a:solidFill>
              </a:rPr>
              <a:t>Сильная сторона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B17107-49FC-49C2-8B21-E1453FD36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467100"/>
            <a:ext cx="2876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572"/>
                </a:solidFill>
              </a:defRPr>
            </a:pPr>
            <a:r>
              <a:rPr sz="1200" b="0">
                <a:solidFill>
                  <a:srgbClr val="5E6572"/>
                </a:solidFill>
              </a:rPr>
              <a:t>Русский корпус достаточно велик для учебной модели.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C1A072-4742-497D-920E-29908DCEF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114800"/>
            <a:ext cx="333375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0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CDB88C-01E1-4A68-9626-231240BB1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286250"/>
            <a:ext cx="762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354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70BC17-81A7-4B3B-AD88-416C62C6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276725"/>
            <a:ext cx="274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318"/>
                </a:solidFill>
              </a:defRPr>
            </a:pPr>
            <a:r>
              <a:rPr sz="1575" b="1">
                <a:solidFill>
                  <a:srgbClr val="111318"/>
                </a:solidFill>
              </a:rPr>
              <a:t>Риск смещения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0FB137-D39D-44B1-A1FB-5A7C00E06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743450"/>
            <a:ext cx="28765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572"/>
                </a:solidFill>
              </a:defRPr>
            </a:pPr>
            <a:r>
              <a:rPr sz="1200" b="0">
                <a:solidFill>
                  <a:srgbClr val="5E6572"/>
                </a:solidFill>
              </a:rPr>
              <a:t>Языки и классы несбалансированы; испанский блок слишком мал и синтетичен.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FA4F7D-71A9-4D22-AE7C-71F1FCF83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88645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E3A66"/>
                </a:solidFill>
              </a:defRPr>
            </a:pPr>
            <a:r>
              <a:rPr sz="1425" b="1">
                <a:solidFill>
                  <a:srgbClr val="0E3A66"/>
                </a:solidFill>
              </a:rPr>
              <a:t>Следствие: общую F1 нельзя считать гарантией одинакового качества для всех языков.</a:t>
            </a:r>
          </a:p>
        </p:txBody>
      </p:sp>
    </p:spTree>
    <p:extLst>
      <p:ext uri="{BB962C8B-B14F-4D97-AF65-F5344CB8AC3E}">
        <p14:creationId xmlns:p14="http://schemas.microsoft.com/office/powerpoint/2010/main" val="147829879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8CD434D-6769-4C3D-8113-A2333D8EA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6670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SPAMGUARD • ПРОЕКТНЫЙ ПРАКТИКУМ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66983B-17A3-4346-B1F8-98929579E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524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318"/>
                </a:solidFill>
              </a:defRPr>
            </a:pPr>
            <a:r>
              <a:rPr sz="3000" b="1">
                <a:solidFill>
                  <a:srgbClr val="111318"/>
                </a:solidFill>
              </a:rPr>
              <a:t>ML‑пайплайн: простая модель, обоснованные признаки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F9E44F-3E57-49BD-8D89-E8B988103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257300"/>
            <a:ext cx="1123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093AAC-CEF6-4730-82EF-AE2D6D76B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8F96A3"/>
                </a:solidFill>
              </a:defRPr>
            </a:pPr>
            <a:r>
              <a:rPr sz="975" b="0">
                <a:solidFill>
                  <a:srgbClr val="8F96A3"/>
                </a:solidFill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EC6CFB-B91A-4167-A49C-AC3CFBD8A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952625"/>
            <a:ext cx="2047875" cy="2286000"/>
          </a:xfrm>
          <a:prstGeom xmlns:a="http://schemas.openxmlformats.org/drawingml/2006/main" prst="roundRect">
            <a:avLst>
              <a:gd name="adj" fmla="val 11163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6BE6B1-46A0-40C8-BF02-E1B216C6E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133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AA2DD2-FC81-4594-B8A8-5349EE392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60985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318"/>
                </a:solidFill>
              </a:defRPr>
            </a:pPr>
            <a:r>
              <a:rPr sz="1725" b="1">
                <a:solidFill>
                  <a:srgbClr val="111318"/>
                </a:solidFill>
              </a:rPr>
              <a:t>Текст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C3B0AC-20B9-46E7-B547-12E0C67A4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352800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Unicode‑нормализация</a:t>
            </a:r>
          </a:p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без ручного перевода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08B9F8-313D-42E0-B301-9EBEE88BD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48000"/>
            <a:ext cx="2381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212708-1F67-41BA-A68A-1C69BDE4C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9718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2780E3-BF4F-4EDC-A47C-E428A0698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52625"/>
            <a:ext cx="2047875" cy="2286000"/>
          </a:xfrm>
          <a:prstGeom xmlns:a="http://schemas.openxmlformats.org/drawingml/2006/main" prst="roundRect">
            <a:avLst>
              <a:gd name="adj" fmla="val 1116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804A48-E315-48CE-9666-988AA8C2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33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0C3149-80CF-4C5F-94B4-02D3FEDFF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60985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318"/>
                </a:solidFill>
              </a:defRPr>
            </a:pPr>
            <a:r>
              <a:rPr sz="1725" b="1">
                <a:solidFill>
                  <a:srgbClr val="111318"/>
                </a:solidFill>
              </a:rPr>
              <a:t>Word TF‑IDF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940C44-86C0-4142-BC8B-DE629FF40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352800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1–2‑граммы</a:t>
            </a:r>
          </a:p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до 18 000 признаков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03656A-1D01-41D4-8BB7-103815EDF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3048000"/>
            <a:ext cx="2381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FFBD8A-DCCC-4CFE-945A-7B16CAE8E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29718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8C79FD-D0E6-4126-B890-0FF174201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3975" y="1952625"/>
            <a:ext cx="2047875" cy="2286000"/>
          </a:xfrm>
          <a:prstGeom xmlns:a="http://schemas.openxmlformats.org/drawingml/2006/main" prst="roundRect">
            <a:avLst>
              <a:gd name="adj" fmla="val 11163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E21D19-A07D-4AAC-A863-295B1226D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133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E38E77-7FAD-4950-9B1D-F4C14F11C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260985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318"/>
                </a:solidFill>
              </a:defRPr>
            </a:pPr>
            <a:r>
              <a:rPr sz="1725" b="1">
                <a:solidFill>
                  <a:srgbClr val="111318"/>
                </a:solidFill>
              </a:rPr>
              <a:t>Char TF‑IDF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687A66-CC7E-4C7F-ADFA-C20A01C0E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5425" y="3352800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3–5‑граммы</a:t>
            </a:r>
          </a:p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до 18 000 признаков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E480E8-7CB5-433B-9272-193DCD61C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048000"/>
            <a:ext cx="2381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435F2B-9A7A-45F8-998F-76145A787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718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80D2EA-18BF-48CA-9AE6-4289005D4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952625"/>
            <a:ext cx="2047875" cy="2286000"/>
          </a:xfrm>
          <a:prstGeom xmlns:a="http://schemas.openxmlformats.org/drawingml/2006/main" prst="roundRect">
            <a:avLst>
              <a:gd name="adj" fmla="val 11163"/>
            </a:avLst>
          </a:prstGeom>
          <a:solidFill xmlns:a="http://schemas.openxmlformats.org/drawingml/2006/main">
            <a:srgbClr val="FFF6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DF89BB-E819-4EDD-9074-AA2CE4538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133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675738-9599-4225-A898-29B541802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60985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318"/>
                </a:solidFill>
              </a:defRPr>
            </a:pPr>
            <a:r>
              <a:rPr sz="1725" b="1">
                <a:solidFill>
                  <a:srgbClr val="111318"/>
                </a:solidFill>
              </a:rPr>
              <a:t>Logistic Regression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FE1848-9361-4595-8462-8D433DF90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352800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class_weight=balanced</a:t>
            </a:r>
          </a:p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solver=liblinear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9EF69D1-A575-45AF-BFBE-46111FF78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3048000"/>
            <a:ext cx="2381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438E4F-0D07-4E24-94EC-883623C74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975" y="29718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EC4E8D4-9808-4106-B8EC-523E49623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952625"/>
            <a:ext cx="2047875" cy="2286000"/>
          </a:xfrm>
          <a:prstGeom xmlns:a="http://schemas.openxmlformats.org/drawingml/2006/main" prst="roundRect">
            <a:avLst>
              <a:gd name="adj" fmla="val 11163"/>
            </a:avLst>
          </a:prstGeom>
          <a:solidFill xmlns:a="http://schemas.openxmlformats.org/drawingml/2006/main">
            <a:srgbClr val="FFF0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A10BB27-82D0-4EB0-942B-4D351189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2133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8F4E432-DDCA-4819-ABD9-D0779D4D1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260985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318"/>
                </a:solidFill>
              </a:defRPr>
            </a:pPr>
            <a:r>
              <a:rPr sz="1725" b="1">
                <a:solidFill>
                  <a:srgbClr val="111318"/>
                </a:solidFill>
              </a:rPr>
              <a:t>Риск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1D6DDCE-6B77-415D-BA58-6770171EF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3352800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P(spam) + threshold</a:t>
            </a:r>
          </a:p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класс и объяснение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1BE7383-7888-417F-8241-F25E2BA06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819650"/>
            <a:ext cx="5286375" cy="12192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11157C2-C9F5-45DE-8B2C-69B436353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91100"/>
            <a:ext cx="762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AF9E528-2CD9-4218-B6EE-171E76465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81575"/>
            <a:ext cx="46958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318"/>
                </a:solidFill>
              </a:defRPr>
            </a:pPr>
            <a:r>
              <a:rPr sz="1575" b="1">
                <a:solidFill>
                  <a:srgbClr val="111318"/>
                </a:solidFill>
              </a:rPr>
              <a:t>Почему word + char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97F4DFF-346A-4303-A6B9-1801660FE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48300"/>
            <a:ext cx="48291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Слова ловят смысловые маркеры; символьные n‑граммы устойчивее к опечаткам, формам слов и нескольким языкам.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42EC909-C366-4DDB-A5D5-DBFBF8FD2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819650"/>
            <a:ext cx="5762625" cy="12192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570FD5C-7BD6-499A-8E80-246F39FA4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4991100"/>
            <a:ext cx="7620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9D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9FF562A-A70C-49D1-B6DA-147933FE3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981575"/>
            <a:ext cx="51720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318"/>
                </a:solidFill>
              </a:defRPr>
            </a:pPr>
            <a:r>
              <a:rPr sz="1575" b="1">
                <a:solidFill>
                  <a:srgbClr val="111318"/>
                </a:solidFill>
              </a:rPr>
              <a:t>Почему Logistic Regression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776AC4E-AA78-43A8-81D0-38D2D3552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5448300"/>
            <a:ext cx="53054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Быстро обучается на разреженных признаках, выдаёт вероятность и подходит для воспроизводимого учебного MVP.</a:t>
            </a:r>
          </a:p>
        </p:txBody>
      </p:sp>
    </p:spTree>
    <p:extLst>
      <p:ext uri="{BB962C8B-B14F-4D97-AF65-F5344CB8AC3E}">
        <p14:creationId xmlns:p14="http://schemas.microsoft.com/office/powerpoint/2010/main" val="190566412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2176C26-EA71-4D07-9E44-98ED53C3F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6670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SPAMGUARD • ПРОЕКТНЫЙ ПРАКТИКУМ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3DA70C-24FD-4D59-B45A-88F567589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524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318"/>
                </a:solidFill>
              </a:defRPr>
            </a:pPr>
            <a:r>
              <a:rPr sz="3000" b="1">
                <a:solidFill>
                  <a:srgbClr val="111318"/>
                </a:solidFill>
              </a:rPr>
              <a:t>Технологии и ресурсный план: MVP укладывается в 4 часа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3BC13E-2465-4A5F-8626-BE8688B4E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257300"/>
            <a:ext cx="1123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7072D6-FF9B-4AB9-AF46-7FE549796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8F96A3"/>
                </a:solidFill>
              </a:defRPr>
            </a:pPr>
            <a:r>
              <a:rPr sz="975" b="0">
                <a:solidFill>
                  <a:srgbClr val="8F96A3"/>
                </a:solidFill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EC1775-F965-4A95-9518-908E70163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2400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318"/>
                </a:solidFill>
              </a:defRPr>
            </a:pPr>
            <a:r>
              <a:rPr sz="1800" b="1">
                <a:solidFill>
                  <a:srgbClr val="111318"/>
                </a:solidFill>
              </a:rPr>
              <a:t>Архитектура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2237C6-1973-42B4-A26B-FE16E667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057400"/>
            <a:ext cx="4476750" cy="64770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055767-1C21-4A99-8199-AE4B558CD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318"/>
                </a:solidFill>
              </a:defRPr>
            </a:pPr>
            <a:r>
              <a:rPr sz="1425" b="1">
                <a:solidFill>
                  <a:srgbClr val="111318"/>
                </a:solidFill>
              </a:rPr>
              <a:t>Streamlit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788070-F1E6-4D1C-80CC-16616FAC3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219325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веб‑интерфейс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B23C4A-D3EA-425B-978F-D5FE9020F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895600"/>
            <a:ext cx="4476750" cy="64770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DDD555-7008-40AB-A9FD-1B4A8BBDA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318"/>
                </a:solidFill>
              </a:defRPr>
            </a:pPr>
            <a:r>
              <a:rPr sz="1425" b="1">
                <a:solidFill>
                  <a:srgbClr val="111318"/>
                </a:solidFill>
              </a:rPr>
              <a:t>pandas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205E1E-B9EE-4AE2-8D64-B57432330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057525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подготовка данных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2CB9F5-AE3D-4D8A-8AE3-7F3F148BD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733800"/>
            <a:ext cx="4476750" cy="64770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C7B3A6-D910-455B-BBA1-0C2C08160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318"/>
                </a:solidFill>
              </a:defRPr>
            </a:pPr>
            <a:r>
              <a:rPr sz="1425" b="1">
                <a:solidFill>
                  <a:srgbClr val="111318"/>
                </a:solidFill>
              </a:rPr>
              <a:t>scikit‑learn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48CE3F-5CF3-4482-834F-14673DF2C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895725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TF‑IDF + модель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764DE4-6BAA-426A-B93C-B956DF01C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572000"/>
            <a:ext cx="4476750" cy="64770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11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13C5CD-5B22-4F8D-8D7B-C6A16EE36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6DCBF4"/>
                </a:solidFill>
              </a:defRPr>
            </a:pPr>
            <a:r>
              <a:rPr sz="1425" b="1">
                <a:solidFill>
                  <a:srgbClr val="6DCBF4"/>
                </a:solidFill>
              </a:rPr>
              <a:t>локальный CPU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8DF9D7-A61E-4729-AC91-4E6A68363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733925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без GPU и API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AE4ECC-72F6-4EB7-B08A-17B245738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524000"/>
            <a:ext cx="561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318"/>
                </a:solidFill>
              </a:defRPr>
            </a:pPr>
            <a:r>
              <a:rPr sz="1800" b="1">
                <a:solidFill>
                  <a:srgbClr val="111318"/>
                </a:solidFill>
              </a:rPr>
              <a:t>План 0:00–4:00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93141C-4767-49FE-BD3C-EAD0F7003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0574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2031A6-9A0D-47A0-A472-F64C6AD0C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0383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</a:defRPr>
            </a:pPr>
            <a:r>
              <a:rPr sz="1275" b="1">
                <a:solidFill>
                  <a:srgbClr val="3D8DFF"/>
                </a:solidFill>
              </a:rPr>
              <a:t>0:00–0:40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FAB94A-9219-4B2C-BB19-5F8A9D55A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0383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318"/>
                </a:solidFill>
              </a:defRPr>
            </a:pPr>
            <a:r>
              <a:rPr sz="1350" b="1">
                <a:solidFill>
                  <a:srgbClr val="111318"/>
                </a:solidFill>
              </a:rPr>
              <a:t>данные + концепция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5821D4-7BBC-4397-95CE-86984D4DC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2286000"/>
            <a:ext cx="285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BF4409-D9E4-4715-A61F-8DCDADEBF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7717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A5076B-DFDD-429D-8AB1-78A3464D1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752725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</a:defRPr>
            </a:pPr>
            <a:r>
              <a:rPr sz="1275" b="1">
                <a:solidFill>
                  <a:srgbClr val="3D8DFF"/>
                </a:solidFill>
              </a:rPr>
              <a:t>0:40–1:35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1B359D-F684-4AE0-8FA8-02FF91D8C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752725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318"/>
                </a:solidFill>
              </a:defRPr>
            </a:pPr>
            <a:r>
              <a:rPr sz="1350" b="1">
                <a:solidFill>
                  <a:srgbClr val="111318"/>
                </a:solidFill>
              </a:rPr>
              <a:t>обучение и метрики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61C2C6-8C93-4EFB-9339-25C9410E9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3000375"/>
            <a:ext cx="285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EB8442-494D-4820-8327-118491B02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4861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BE3899-098A-4B4C-88B3-62722CDEC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46710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</a:defRPr>
            </a:pPr>
            <a:r>
              <a:rPr sz="1275" b="1">
                <a:solidFill>
                  <a:srgbClr val="3D8DFF"/>
                </a:solidFill>
              </a:rPr>
              <a:t>1:35–2:50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0D16983-E8BB-498A-96D2-4778E13D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4671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318"/>
                </a:solidFill>
              </a:defRPr>
            </a:pPr>
            <a:r>
              <a:rPr sz="1350" b="1">
                <a:solidFill>
                  <a:srgbClr val="111318"/>
                </a:solidFill>
              </a:rPr>
              <a:t>интерфейс и сценарии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698126-87BA-4C45-836F-8DD31A892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3714750"/>
            <a:ext cx="285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02590A8-82DF-4839-88FF-5CFACF02B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2005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430101C-E35B-4AD0-A967-A16AAF236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181475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</a:defRPr>
            </a:pPr>
            <a:r>
              <a:rPr sz="1275" b="1">
                <a:solidFill>
                  <a:srgbClr val="3D8DFF"/>
                </a:solidFill>
              </a:rPr>
              <a:t>2:50–3:20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4167DAA-E8A1-49EE-9A03-EB32D62B1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181475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318"/>
                </a:solidFill>
              </a:defRPr>
            </a:pPr>
            <a:r>
              <a:rPr sz="1350" b="1">
                <a:solidFill>
                  <a:srgbClr val="111318"/>
                </a:solidFill>
              </a:rPr>
              <a:t>тесты и исправления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1EB5BF8-1564-450C-9F1D-AA5C43228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4429125"/>
            <a:ext cx="285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5B7C598-8E3E-4E8D-8440-0C0F8FF57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9149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9D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65A8C2-217C-4744-B584-1A1FAB920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8958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D8DFF"/>
                </a:solidFill>
              </a:defRPr>
            </a:pPr>
            <a:r>
              <a:rPr sz="1275" b="1">
                <a:solidFill>
                  <a:srgbClr val="3D8DFF"/>
                </a:solidFill>
              </a:rPr>
              <a:t>3:20–4:00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765082C-F216-4DA2-BE58-1E3690D4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8958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318"/>
                </a:solidFill>
              </a:defRPr>
            </a:pPr>
            <a:r>
              <a:rPr sz="1350" b="1">
                <a:solidFill>
                  <a:srgbClr val="111318"/>
                </a:solidFill>
              </a:rPr>
              <a:t>документация и презентация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B776A6A-A1A1-4463-BE83-2B6994B27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715000"/>
            <a:ext cx="5619750" cy="5334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E38E1E3-5262-4EFE-8100-20E115AAC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867400"/>
            <a:ext cx="5200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D9D78"/>
                </a:solidFill>
              </a:defRPr>
            </a:pPr>
            <a:r>
              <a:rPr sz="1200" b="1">
                <a:solidFill>
                  <a:srgbClr val="2D9D78"/>
                </a:solidFill>
              </a:rPr>
              <a:t>1 разработчик • 8 ГБ RAM • CPU • обучение 23–26 с • без платных API</a:t>
            </a:r>
          </a:p>
        </p:txBody>
      </p:sp>
    </p:spTree>
    <p:extLst>
      <p:ext uri="{BB962C8B-B14F-4D97-AF65-F5344CB8AC3E}">
        <p14:creationId xmlns:p14="http://schemas.microsoft.com/office/powerpoint/2010/main" val="195939423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E2B7B5-9256-48DD-86A9-62A2C8E6D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6670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SPAMGUARD • ПРОЕКТНЫЙ ПРАКТИКУМ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2AC3CD-CFE7-4849-A62A-503B2C91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524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318"/>
                </a:solidFill>
              </a:defRPr>
            </a:pPr>
            <a:r>
              <a:rPr sz="3000" b="1">
                <a:solidFill>
                  <a:srgbClr val="111318"/>
                </a:solidFill>
              </a:rPr>
              <a:t>Методология оценки качества модели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AA481E-6028-4A89-A9A3-2A6273069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257300"/>
            <a:ext cx="1123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877E6A-DD00-450B-8BB3-18AF2129F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8F96A3"/>
                </a:solidFill>
              </a:defRPr>
            </a:pPr>
            <a:r>
              <a:rPr sz="975" b="0">
                <a:solidFill>
                  <a:srgbClr val="8F96A3"/>
                </a:solidFill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2A38DF-256B-405A-A1AC-A71BE0E96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04950"/>
            <a:ext cx="11239500" cy="781050"/>
          </a:xfrm>
          <a:prstGeom xmlns:a="http://schemas.openxmlformats.org/drawingml/2006/main" prst="roundRect">
            <a:avLst>
              <a:gd name="adj" fmla="val 24390"/>
            </a:avLst>
          </a:prstGeom>
          <a:solidFill xmlns:a="http://schemas.openxmlformats.org/drawingml/2006/main">
            <a:srgbClr val="111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CE7787-CF6E-49C3-9E72-75ABD0B45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14500"/>
            <a:ext cx="3190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6DCBF4"/>
                </a:solidFill>
              </a:defRPr>
            </a:pPr>
            <a:r>
              <a:rPr sz="1425" b="1">
                <a:solidFill>
                  <a:srgbClr val="6DCBF4"/>
                </a:solidFill>
              </a:rPr>
              <a:t>24 838 уникальных сообщений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39BF64-7168-469D-9022-1B5AD35B6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7145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→ train 19 870 (80%)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9DA883-6893-4EB7-BD97-9186F416A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7145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→ test 4 968 (20%)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8A5691-4FAB-4800-BD79-39A4927B3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714500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6DCBF4"/>
                </a:solidFill>
              </a:defRPr>
            </a:pPr>
            <a:r>
              <a:rPr sz="1050" b="1">
                <a:solidFill>
                  <a:srgbClr val="6DCBF4"/>
                </a:solidFill>
              </a:rPr>
              <a:t>stratify: язык × класс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E2A046-AD57-49D4-BC33-4627B6CB7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743200"/>
            <a:ext cx="2571750" cy="2019300"/>
          </a:xfrm>
          <a:prstGeom xmlns:a="http://schemas.openxmlformats.org/drawingml/2006/main" prst="roundRect">
            <a:avLst>
              <a:gd name="adj" fmla="val 9434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A657EE-5FAF-4C9C-AA99-1B4C32793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318"/>
                </a:solidFill>
              </a:defRPr>
            </a:pPr>
            <a:r>
              <a:rPr sz="1575" b="1">
                <a:solidFill>
                  <a:srgbClr val="111318"/>
                </a:solidFill>
              </a:rPr>
              <a:t>Accuracy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0B694D-B607-451A-A937-BF0DC9B84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доля всех верных ответов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DD0D75-6D0F-49ED-BF1C-3899FFA27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572"/>
                </a:solidFill>
              </a:defRPr>
            </a:pPr>
            <a:r>
              <a:rPr sz="1200" b="0">
                <a:solidFill>
                  <a:srgbClr val="5E6572"/>
                </a:solidFill>
              </a:rPr>
              <a:t>удобна как общий обзор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0C909B-8B62-480E-BE6E-C08A8582B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743200"/>
            <a:ext cx="2571750" cy="2019300"/>
          </a:xfrm>
          <a:prstGeom xmlns:a="http://schemas.openxmlformats.org/drawingml/2006/main" prst="roundRect">
            <a:avLst>
              <a:gd name="adj" fmla="val 9434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B17DBF-DC0C-44C1-8E5D-B5147CC86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527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318"/>
                </a:solidFill>
              </a:defRPr>
            </a:pPr>
            <a:r>
              <a:rPr sz="1575" b="1">
                <a:solidFill>
                  <a:srgbClr val="111318"/>
                </a:solidFill>
              </a:rPr>
              <a:t>Precision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6B51B6-8C44-46C5-84BA-28B696E8A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429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TP / (TP + FP)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2D80CC-EF5E-4055-A7B6-12AF86495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00050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572"/>
                </a:solidFill>
              </a:defRPr>
            </a:pPr>
            <a:r>
              <a:rPr sz="1200" b="0">
                <a:solidFill>
                  <a:srgbClr val="5E6572"/>
                </a:solidFill>
              </a:rPr>
              <a:t>насколько можно доверять метке «спам»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C81109-4008-4904-A6E2-018971FEE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43200"/>
            <a:ext cx="2571750" cy="2019300"/>
          </a:xfrm>
          <a:prstGeom xmlns:a="http://schemas.openxmlformats.org/drawingml/2006/main" prst="roundRect">
            <a:avLst>
              <a:gd name="adj" fmla="val 9434"/>
            </a:avLst>
          </a:prstGeom>
          <a:solidFill xmlns:a="http://schemas.openxmlformats.org/drawingml/2006/main">
            <a:srgbClr val="FFF0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AFA48A-606E-42FB-9F3B-FD8A3331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9527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318"/>
                </a:solidFill>
              </a:defRPr>
            </a:pPr>
            <a:r>
              <a:rPr sz="1575" b="1">
                <a:solidFill>
                  <a:srgbClr val="111318"/>
                </a:solidFill>
              </a:rPr>
              <a:t>Recall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AF1835-7BF9-409A-AB00-94A3B034B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429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TP / (TP + FN)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FDBF9F-248C-4997-9FE2-CBD5D527D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0050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572"/>
                </a:solidFill>
              </a:defRPr>
            </a:pPr>
            <a:r>
              <a:rPr sz="1200" b="0">
                <a:solidFill>
                  <a:srgbClr val="5E6572"/>
                </a:solidFill>
              </a:rPr>
              <a:t>какую долю реального спама мы нашли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32C6874-4CF4-4A20-B13B-7AEF477F5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743200"/>
            <a:ext cx="2571750" cy="2019300"/>
          </a:xfrm>
          <a:prstGeom xmlns:a="http://schemas.openxmlformats.org/drawingml/2006/main" prst="roundRect">
            <a:avLst>
              <a:gd name="adj" fmla="val 9434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E12192-9165-44A8-89D8-77AC6231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9527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318"/>
                </a:solidFill>
              </a:defRPr>
            </a:pPr>
            <a:r>
              <a:rPr sz="1575" b="1">
                <a:solidFill>
                  <a:srgbClr val="111318"/>
                </a:solidFill>
              </a:rPr>
              <a:t>F1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467E01-9460-4AA3-8EB1-B72267E98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4290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</a:defRPr>
            </a:pPr>
            <a:r>
              <a:rPr sz="1350" b="1">
                <a:solidFill>
                  <a:srgbClr val="3D8DFF"/>
                </a:solidFill>
              </a:rPr>
              <a:t>2PR / (P + R)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1CE701-908F-4A38-B82B-7A11E529F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000500"/>
            <a:ext cx="2190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572"/>
                </a:solidFill>
              </a:defRPr>
            </a:pPr>
            <a:r>
              <a:rPr sz="1200" b="0">
                <a:solidFill>
                  <a:srgbClr val="5E6572"/>
                </a:solidFill>
              </a:rPr>
              <a:t>баланс Precision и Recall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CDA93F8-5533-4160-9D24-E1F59DA61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200650"/>
            <a:ext cx="11239500" cy="838200"/>
          </a:xfrm>
          <a:prstGeom xmlns:a="http://schemas.openxmlformats.org/drawingml/2006/main" prst="roundRect">
            <a:avLst>
              <a:gd name="adj" fmla="val 2272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9761437-55EE-4CB0-BCC9-C49B411B2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72100"/>
            <a:ext cx="762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8E471B-261B-4169-A385-659D98F69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6257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318"/>
                </a:solidFill>
              </a:defRPr>
            </a:pPr>
            <a:r>
              <a:rPr sz="1425" b="1">
                <a:solidFill>
                  <a:srgbClr val="111318"/>
                </a:solidFill>
              </a:rPr>
              <a:t>Главные метрики для продукта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785190-29CF-48DB-88E8-566DCBE3D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5324475"/>
            <a:ext cx="714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E3A66"/>
                </a:solidFill>
              </a:defRPr>
            </a:pPr>
            <a:r>
              <a:rPr sz="1275" b="1">
                <a:solidFill>
                  <a:srgbClr val="0E3A66"/>
                </a:solidFill>
              </a:rPr>
              <a:t>Recall снижает риск пропустить спам; Precision сдерживает ложные тревоги. F1 показывает их совместный баланс.</a:t>
            </a:r>
          </a:p>
        </p:txBody>
      </p:sp>
    </p:spTree>
    <p:extLst>
      <p:ext uri="{BB962C8B-B14F-4D97-AF65-F5344CB8AC3E}">
        <p14:creationId xmlns:p14="http://schemas.microsoft.com/office/powerpoint/2010/main" val="59263564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86C07B-1F02-4B39-8323-6D56B9D8C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6670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SPAMGUARD • ПРОЕКТНЫЙ ПРАКТИКУМ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465830-2FF4-4C86-8874-E76A05CA8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524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318"/>
                </a:solidFill>
              </a:defRPr>
            </a:pPr>
            <a:r>
              <a:rPr sz="3000" b="1">
                <a:solidFill>
                  <a:srgbClr val="111318"/>
                </a:solidFill>
              </a:rPr>
              <a:t>Результат: F1 = 96,3% на отложенной выборке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7CBDA3-F74E-4014-A4BD-FF0110468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257300"/>
            <a:ext cx="1123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46354F-72F0-4F3C-8976-939904D3E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8F96A3"/>
                </a:solidFill>
              </a:defRPr>
            </a:pPr>
            <a:r>
              <a:rPr sz="975" b="0">
                <a:solidFill>
                  <a:srgbClr val="8F96A3"/>
                </a:solidFill>
              </a:rPr>
              <a:t>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9AB441-28CA-462C-B341-90F8A51EC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66850"/>
            <a:ext cx="1028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E6572"/>
                </a:solidFill>
              </a:defRPr>
            </a:pPr>
            <a:r>
              <a:rPr sz="1500" b="0">
                <a:solidFill>
                  <a:srgbClr val="5E6572"/>
                </a:solidFill>
              </a:rPr>
              <a:t>Все показатели рассчитаны только на test = 4 968 сообщений, не участвовавших в обучении.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6A359E-61BE-4EA6-88EE-F9259AA9E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238375"/>
            <a:ext cx="2571750" cy="25717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CA6801-5C31-4F7F-B22C-A8FC8BBD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81275"/>
            <a:ext cx="2228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375" b="1">
                <a:solidFill>
                  <a:srgbClr val="111318"/>
                </a:solidFill>
              </a:defRPr>
            </a:pPr>
            <a:r>
              <a:rPr sz="3375" b="1">
                <a:solidFill>
                  <a:srgbClr val="111318"/>
                </a:solidFill>
              </a:rPr>
              <a:t>97,4%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F021FD-3E0D-416E-A9B3-5949FC55D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76625"/>
            <a:ext cx="2228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318"/>
                </a:solidFill>
              </a:defRPr>
            </a:pPr>
            <a:r>
              <a:rPr sz="1650" b="1">
                <a:solidFill>
                  <a:srgbClr val="111318"/>
                </a:solidFill>
              </a:rPr>
              <a:t>Accuracy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2372AE-0AB1-4AA7-AA64-81F54D8C2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3860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E6572"/>
                </a:solidFill>
              </a:defRPr>
            </a:pPr>
            <a:r>
              <a:rPr sz="1200" b="0">
                <a:solidFill>
                  <a:srgbClr val="5E6572"/>
                </a:solidFill>
              </a:rPr>
              <a:t>верных ответов всего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6E80FB-DF96-4265-AC2B-B8C3BCD2C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2238375"/>
            <a:ext cx="2571750" cy="25717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F1267D-895C-48A7-B32A-4A917DF70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581275"/>
            <a:ext cx="2228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375" b="1">
                <a:solidFill>
                  <a:srgbClr val="3D8DFF"/>
                </a:solidFill>
              </a:defRPr>
            </a:pPr>
            <a:r>
              <a:rPr sz="3375" b="1">
                <a:solidFill>
                  <a:srgbClr val="3D8DFF"/>
                </a:solidFill>
              </a:rPr>
              <a:t>97,6%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09AD55-A118-4ABF-9E53-419F2B0E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3476625"/>
            <a:ext cx="2228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318"/>
                </a:solidFill>
              </a:defRPr>
            </a:pPr>
            <a:r>
              <a:rPr sz="1650" b="1">
                <a:solidFill>
                  <a:srgbClr val="111318"/>
                </a:solidFill>
              </a:rPr>
              <a:t>Precision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A9D1E0-0F0D-4E7F-A36D-9DBD15B3C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403860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E6572"/>
                </a:solidFill>
              </a:defRPr>
            </a:pPr>
            <a:r>
              <a:rPr sz="1200" b="0">
                <a:solidFill>
                  <a:srgbClr val="5E6572"/>
                </a:solidFill>
              </a:rPr>
              <a:t>из помеченных как spam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04D8B6-F458-46DE-88D2-E4C17B986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38375"/>
            <a:ext cx="2571750" cy="25717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F0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CA940E-E4D2-4958-8F26-6EFC2309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81275"/>
            <a:ext cx="2228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375" b="1">
                <a:solidFill>
                  <a:srgbClr val="E3545B"/>
                </a:solidFill>
              </a:defRPr>
            </a:pPr>
            <a:r>
              <a:rPr sz="3375" b="1">
                <a:solidFill>
                  <a:srgbClr val="E3545B"/>
                </a:solidFill>
              </a:rPr>
              <a:t>95,0%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6C4C00-1903-4F3C-92EB-66BDF77C7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76625"/>
            <a:ext cx="2228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318"/>
                </a:solidFill>
              </a:defRPr>
            </a:pPr>
            <a:r>
              <a:rPr sz="1650" b="1">
                <a:solidFill>
                  <a:srgbClr val="111318"/>
                </a:solidFill>
              </a:rPr>
              <a:t>Recall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54EE7B-574F-4764-8BDD-93C6DC71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3860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E6572"/>
                </a:solidFill>
              </a:defRPr>
            </a:pPr>
            <a:r>
              <a:rPr sz="1200" b="0">
                <a:solidFill>
                  <a:srgbClr val="5E6572"/>
                </a:solidFill>
              </a:rPr>
              <a:t>найдено реального spam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FA0500-9078-45C3-A08C-DB641956F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2238375"/>
            <a:ext cx="2571750" cy="25717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307327-C33C-46C3-862C-05F59E0BF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2581275"/>
            <a:ext cx="2228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375" b="1">
                <a:solidFill>
                  <a:srgbClr val="2D9D78"/>
                </a:solidFill>
              </a:defRPr>
            </a:pPr>
            <a:r>
              <a:rPr sz="3375" b="1">
                <a:solidFill>
                  <a:srgbClr val="2D9D78"/>
                </a:solidFill>
              </a:rPr>
              <a:t>96,3%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321C66-461C-4450-8735-E1B03C0B2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3476625"/>
            <a:ext cx="2228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318"/>
                </a:solidFill>
              </a:defRPr>
            </a:pPr>
            <a:r>
              <a:rPr sz="1650" b="1">
                <a:solidFill>
                  <a:srgbClr val="111318"/>
                </a:solidFill>
              </a:rPr>
              <a:t>F1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C0D528-BD63-4775-B9A2-B5963E49E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403860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E6572"/>
                </a:solidFill>
              </a:defRPr>
            </a:pPr>
            <a:r>
              <a:rPr sz="1200" b="0">
                <a:solidFill>
                  <a:srgbClr val="5E6572"/>
                </a:solidFill>
              </a:rPr>
              <a:t>баланс Precision / Recall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CCB667-8971-474B-A6CA-2E7EAAC30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305425"/>
            <a:ext cx="11239500" cy="781050"/>
          </a:xfrm>
          <a:prstGeom xmlns:a="http://schemas.openxmlformats.org/drawingml/2006/main" prst="roundRect">
            <a:avLst>
              <a:gd name="adj" fmla="val 21951"/>
            </a:avLst>
          </a:prstGeom>
          <a:solidFill xmlns:a="http://schemas.openxmlformats.org/drawingml/2006/main">
            <a:srgbClr val="111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19ED17-DD7F-4037-A64F-ADBDC2F63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34025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CBF4"/>
                </a:solidFill>
              </a:defRPr>
            </a:pPr>
            <a:r>
              <a:rPr sz="1350" b="1">
                <a:solidFill>
                  <a:srgbClr val="6DCBF4"/>
                </a:solidFill>
              </a:rPr>
              <a:t>Интерпретация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6CAC8B-19DA-4169-BC56-6B0D46319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885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5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модель уверенно разделяет классы, но 5,0% спама в test всё ещё пропущено — именно эти ошибки приоритетны для доработки</a:t>
            </a:r>
          </a:p>
        </p:txBody>
      </p:sp>
    </p:spTree>
    <p:extLst>
      <p:ext uri="{BB962C8B-B14F-4D97-AF65-F5344CB8AC3E}">
        <p14:creationId xmlns:p14="http://schemas.microsoft.com/office/powerpoint/2010/main" val="186100532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28B1080-501C-40AE-A42F-259DA0480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6670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SPAMGUARD • ПРОЕКТНЫЙ ПРАКТИКУМ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A7A595-5340-4840-B177-6E893AD41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524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318"/>
                </a:solidFill>
              </a:defRPr>
            </a:pPr>
            <a:r>
              <a:rPr sz="3000" b="1">
                <a:solidFill>
                  <a:srgbClr val="111318"/>
                </a:solidFill>
              </a:rPr>
              <a:t>Где модель ошибается: 127 случаев из 4 968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EB4B86-FF38-451C-85FF-0DE3CEF2E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257300"/>
            <a:ext cx="1123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CFC6CC-DA36-484D-A89E-414A3B8CB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8F96A3"/>
                </a:solidFill>
              </a:defRPr>
            </a:pPr>
            <a:r>
              <a:rPr sz="975" b="0">
                <a:solidFill>
                  <a:srgbClr val="8F96A3"/>
                </a:solidFill>
              </a:rP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4F676E-7266-41EA-88E0-8733FBECC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04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318"/>
                </a:solidFill>
              </a:defRPr>
            </a:pPr>
            <a:r>
              <a:rPr sz="1800" b="1">
                <a:solidFill>
                  <a:srgbClr val="111318"/>
                </a:solidFill>
              </a:rPr>
              <a:t>Матрица ошибок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D5CE5D-CE51-45F6-A007-44CAD5ADE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000250"/>
            <a:ext cx="1428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8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834A01-600E-43BC-A3C7-FC8D543DE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7645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8E90DF-7AD9-413B-BE14-996E3BA0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000250"/>
            <a:ext cx="1809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8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11F0B5-CFF4-4DC4-ACC1-5D48CC7C7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0764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Прогноз ham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17AD19-A47C-4BDF-9698-91FAA1F96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00250"/>
            <a:ext cx="18097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8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4DA9A0-8BE3-4C05-A3CE-590EB6BFD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0764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Прогноз spam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69D4A6-95D8-4202-ADA3-4574E6E61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476500"/>
            <a:ext cx="1428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379CF7-8B62-4BA6-8A8D-D65D79CDD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52700"/>
            <a:ext cx="1238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</a:defRPr>
            </a:pPr>
            <a:r>
              <a:rPr sz="1200" b="0">
                <a:solidFill>
                  <a:srgbClr val="111318"/>
                </a:solidFill>
              </a:rPr>
              <a:t>Факт ham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0FB16F-46D3-4AF6-9E79-0C2E684D2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476500"/>
            <a:ext cx="1809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B76A4C-2ACC-4754-899D-6694C146B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552700"/>
            <a:ext cx="1619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318"/>
                </a:solidFill>
              </a:defRPr>
            </a:pPr>
            <a:r>
              <a:rPr sz="1200" b="1">
                <a:solidFill>
                  <a:srgbClr val="111318"/>
                </a:solidFill>
              </a:rPr>
              <a:t>3 203</a:t>
            </a:r>
          </a:p>
          <a:p xmlns:a="http://schemas.openxmlformats.org/drawingml/2006/main">
            <a:pPr algn="l">
              <a:defRPr sz="1200" b="1">
                <a:solidFill>
                  <a:srgbClr val="111318"/>
                </a:solidFill>
              </a:defRPr>
            </a:pPr>
            <a:r>
              <a:rPr sz="1200" b="1">
                <a:solidFill>
                  <a:srgbClr val="111318"/>
                </a:solidFill>
              </a:rPr>
              <a:t>верно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05DB5B-C2ED-42C8-9034-7DDFEEDEB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476500"/>
            <a:ext cx="1809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EC20CF-CBF9-4B86-89B3-FC0B2DDA6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552700"/>
            <a:ext cx="1619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</a:defRPr>
            </a:pPr>
            <a:r>
              <a:rPr sz="1200" b="0">
                <a:solidFill>
                  <a:srgbClr val="111318"/>
                </a:solidFill>
              </a:rPr>
              <a:t>40</a:t>
            </a:r>
          </a:p>
          <a:p xmlns:a="http://schemas.openxmlformats.org/drawingml/2006/main">
            <a:pPr algn="l">
              <a:defRPr sz="1200" b="0">
                <a:solidFill>
                  <a:srgbClr val="111318"/>
                </a:solidFill>
              </a:defRPr>
            </a:pPr>
            <a:r>
              <a:rPr sz="1200" b="0">
                <a:solidFill>
                  <a:srgbClr val="111318"/>
                </a:solidFill>
              </a:rPr>
              <a:t>ложная тревога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1A4FB3-EE51-46D7-B472-7FE212C83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524250"/>
            <a:ext cx="1428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A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041677-4F2C-4404-B03C-7895FA810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00450"/>
            <a:ext cx="1238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</a:defRPr>
            </a:pPr>
            <a:r>
              <a:rPr sz="1200" b="0">
                <a:solidFill>
                  <a:srgbClr val="111318"/>
                </a:solidFill>
              </a:rPr>
              <a:t>Факт spam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A2FA26-DB14-4154-BDB3-CF8179427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524250"/>
            <a:ext cx="1809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9FA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9C5EC8-D6D2-47D8-BBFC-2B0B4BE21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600450"/>
            <a:ext cx="1619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318"/>
                </a:solidFill>
              </a:defRPr>
            </a:pPr>
            <a:r>
              <a:rPr sz="1200" b="0">
                <a:solidFill>
                  <a:srgbClr val="111318"/>
                </a:solidFill>
              </a:rPr>
              <a:t>87</a:t>
            </a:r>
          </a:p>
          <a:p xmlns:a="http://schemas.openxmlformats.org/drawingml/2006/main">
            <a:pPr algn="l">
              <a:defRPr sz="1200" b="0">
                <a:solidFill>
                  <a:srgbClr val="111318"/>
                </a:solidFill>
              </a:defRPr>
            </a:pPr>
            <a:r>
              <a:rPr sz="1200" b="0">
                <a:solidFill>
                  <a:srgbClr val="111318"/>
                </a:solidFill>
              </a:rPr>
              <a:t>пропуск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1DCAAF-CE8B-46A3-AF17-2F736BF9D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524250"/>
            <a:ext cx="18097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C8CDD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981DAB-3B2A-44C5-AC17-F2CC84131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600450"/>
            <a:ext cx="1619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11318"/>
                </a:solidFill>
              </a:defRPr>
            </a:pPr>
            <a:r>
              <a:rPr sz="1200" b="1">
                <a:solidFill>
                  <a:srgbClr val="111318"/>
                </a:solidFill>
              </a:rPr>
              <a:t>1 638</a:t>
            </a:r>
          </a:p>
          <a:p xmlns:a="http://schemas.openxmlformats.org/drawingml/2006/main">
            <a:pPr algn="l">
              <a:defRPr sz="1200" b="1">
                <a:solidFill>
                  <a:srgbClr val="111318"/>
                </a:solidFill>
              </a:defRPr>
            </a:pPr>
            <a:r>
              <a:rPr sz="1200" b="1">
                <a:solidFill>
                  <a:srgbClr val="111318"/>
                </a:solidFill>
              </a:rPr>
              <a:t>верно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83F464-D257-43D7-AFE1-DB411914A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857750"/>
            <a:ext cx="5048250" cy="990600"/>
          </a:xfrm>
          <a:prstGeom xmlns:a="http://schemas.openxmlformats.org/drawingml/2006/main" prst="roundRect">
            <a:avLst>
              <a:gd name="adj" fmla="val 17308"/>
            </a:avLst>
          </a:prstGeom>
          <a:solidFill xmlns:a="http://schemas.openxmlformats.org/drawingml/2006/main">
            <a:srgbClr val="FFF0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A91C82-F9B6-48A8-B76E-B4F0515DA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673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3545B"/>
                </a:solidFill>
              </a:defRPr>
            </a:pPr>
            <a:r>
              <a:rPr sz="1350" b="1">
                <a:solidFill>
                  <a:srgbClr val="E3545B"/>
                </a:solidFill>
              </a:rPr>
              <a:t>Приоритет №1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82F6FB-C479-4E84-BEE9-423221478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029200"/>
            <a:ext cx="3000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318"/>
                </a:solidFill>
              </a:defRPr>
            </a:pPr>
            <a:r>
              <a:rPr sz="1500" b="1">
                <a:solidFill>
                  <a:srgbClr val="111318"/>
                </a:solidFill>
              </a:rPr>
              <a:t>87 false negative: спам, который модель пропустила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0F5229-920B-4E18-86C7-5761AA064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504950"/>
            <a:ext cx="504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318"/>
                </a:solidFill>
              </a:defRPr>
            </a:pPr>
            <a:r>
              <a:rPr sz="1800" b="1">
                <a:solidFill>
                  <a:srgbClr val="111318"/>
                </a:solidFill>
              </a:rPr>
              <a:t>Качество по языкам (F1)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745115-8D25-4B84-ACEE-85246572E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318"/>
                </a:solidFill>
              </a:defRPr>
            </a:pPr>
            <a:r>
              <a:rPr sz="1275" b="1">
                <a:solidFill>
                  <a:srgbClr val="111318"/>
                </a:solidFill>
              </a:rPr>
              <a:t>Русский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FC91908-05F6-463D-B419-553C51C57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276475"/>
            <a:ext cx="2714625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A172E3-71C1-4AEB-9F97-CA5FEEFEF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276475"/>
            <a:ext cx="2619613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9D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AE816B-E7F2-4C55-AEC3-29328C7E2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228850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11318"/>
                </a:solidFill>
              </a:defRPr>
            </a:pPr>
            <a:r>
              <a:rPr sz="1350" b="1">
                <a:solidFill>
                  <a:srgbClr val="111318"/>
                </a:solidFill>
              </a:rPr>
              <a:t>96.5%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7AFD907-E6DA-4BCA-BA41-484E4F0DE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505075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F96A3"/>
                </a:solidFill>
              </a:defRPr>
            </a:pPr>
            <a:r>
              <a:rPr sz="1050" b="0">
                <a:solidFill>
                  <a:srgbClr val="8F96A3"/>
                </a:solidFill>
              </a:rPr>
              <a:t>Recall 95,4% • большой реальный корпус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89C16CA-C539-4B98-8921-C9809D759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190875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318"/>
                </a:solidFill>
              </a:defRPr>
            </a:pPr>
            <a:r>
              <a:rPr sz="1275" b="1">
                <a:solidFill>
                  <a:srgbClr val="111318"/>
                </a:solidFill>
              </a:rPr>
              <a:t>English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ACDB652-C335-44C2-A7CB-D677C7DA9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19450"/>
            <a:ext cx="2714625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7A07999-9DC9-4A96-BF38-7E7740AAF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19450"/>
            <a:ext cx="2540889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157A6DA-0106-46DF-A4AF-1EE76FE5E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3171825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11318"/>
                </a:solidFill>
              </a:defRPr>
            </a:pPr>
            <a:r>
              <a:rPr sz="1350" b="1">
                <a:solidFill>
                  <a:srgbClr val="111318"/>
                </a:solidFill>
              </a:rPr>
              <a:t>93.6%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EF6E37C-BDD0-4E4F-A1DD-99B2ED392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48050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F96A3"/>
                </a:solidFill>
              </a:defRPr>
            </a:pPr>
            <a:r>
              <a:rPr sz="1050" b="0">
                <a:solidFill>
                  <a:srgbClr val="8F96A3"/>
                </a:solidFill>
              </a:rPr>
              <a:t>Recall 90,7% • меньше spam-примеров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D2AD43A-18FF-4449-B107-3349DBF0F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33850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318"/>
                </a:solidFill>
              </a:defRPr>
            </a:pPr>
            <a:r>
              <a:rPr sz="1275" b="1">
                <a:solidFill>
                  <a:srgbClr val="111318"/>
                </a:solidFill>
              </a:rPr>
              <a:t>Español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271F79B-FB37-4D42-A975-CE7AB2F21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62425"/>
            <a:ext cx="2714625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9E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30C3EC7-94B0-44EE-8F64-6FC7D328A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62425"/>
            <a:ext cx="2375297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59A2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2619F2C-D1AF-477E-A634-09BDC19C1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4114800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11318"/>
                </a:solidFill>
              </a:defRPr>
            </a:pPr>
            <a:r>
              <a:rPr sz="1350" b="1">
                <a:solidFill>
                  <a:srgbClr val="111318"/>
                </a:solidFill>
              </a:rPr>
              <a:t>87.5%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0623AD6-C302-4DDD-B565-E9E4F3BF1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391025"/>
            <a:ext cx="361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8F96A3"/>
                </a:solidFill>
              </a:defRPr>
            </a:pPr>
            <a:r>
              <a:rPr sz="1050" b="0">
                <a:solidFill>
                  <a:srgbClr val="8F96A3"/>
                </a:solidFill>
              </a:rPr>
              <a:t>Recall 77,8% • всего 87 synthetic примеров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057287C-827F-44FC-8C61-976D05828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00650"/>
            <a:ext cx="5048250" cy="64770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6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DF0F321-137A-448E-B896-71BA11B5C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53050"/>
            <a:ext cx="4629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235"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318"/>
                </a:solidFill>
              </a:defRPr>
            </a:pPr>
            <a:r>
              <a:rPr sz="1275" b="1">
                <a:solidFill>
                  <a:srgbClr val="111318"/>
                </a:solidFill>
              </a:rPr>
              <a:t>Вывод: испанский язык — демонстрация интерфейса, а не доказанное качество продукта.</a:t>
            </a:r>
          </a:p>
        </p:txBody>
      </p:sp>
    </p:spTree>
    <p:extLst>
      <p:ext uri="{BB962C8B-B14F-4D97-AF65-F5344CB8AC3E}">
        <p14:creationId xmlns:p14="http://schemas.microsoft.com/office/powerpoint/2010/main" val="180391892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65D745-40A8-4A04-9FFB-ED6754506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6670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SPAMGUARD • ПРОЕКТНЫЙ ПРАКТИКУМ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07BFCC-7750-46B9-883D-F755B67F9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524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318"/>
                </a:solidFill>
              </a:defRPr>
            </a:pPr>
            <a:r>
              <a:rPr sz="3000" b="1">
                <a:solidFill>
                  <a:srgbClr val="111318"/>
                </a:solidFill>
              </a:rPr>
              <a:t>Тестирование MVP: что проверено и что ещё нужно измерить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E23BEC-F58E-4A60-86C8-317A6D6DA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257300"/>
            <a:ext cx="1123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58514E-49AE-4212-A3B8-4D461B0EC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8F96A3"/>
                </a:solidFill>
              </a:defRPr>
            </a:pPr>
            <a:r>
              <a:rPr sz="975" b="0">
                <a:solidFill>
                  <a:srgbClr val="8F96A3"/>
                </a:solidFill>
              </a:rPr>
              <a:t>19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98F500-8403-46CC-AFC9-404C0436C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543050"/>
            <a:ext cx="3429000" cy="2238375"/>
          </a:xfrm>
          <a:prstGeom xmlns:a="http://schemas.openxmlformats.org/drawingml/2006/main" prst="roundRect">
            <a:avLst>
              <a:gd name="adj" fmla="val 936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F2E752-AE1C-4653-B658-47418E35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52600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318"/>
                </a:solidFill>
              </a:defRPr>
            </a:pPr>
            <a:r>
              <a:rPr sz="1575" b="1">
                <a:solidFill>
                  <a:srgbClr val="111318"/>
                </a:solidFill>
              </a:rPr>
              <a:t>Автотесты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7D11E7-970A-46A5-B197-71502C9EE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19325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D9D78"/>
                </a:solidFill>
              </a:defRPr>
            </a:pPr>
            <a:r>
              <a:rPr sz="2700" b="1">
                <a:solidFill>
                  <a:srgbClr val="2D9D78"/>
                </a:solidFill>
              </a:rPr>
              <a:t>4 / 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48B991-84A6-4587-BF6A-92AB9FA81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24175"/>
            <a:ext cx="2971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572"/>
                </a:solidFill>
              </a:defRPr>
            </a:pPr>
            <a:r>
              <a:rPr sz="1200" b="0">
                <a:solidFill>
                  <a:srgbClr val="5E6572"/>
                </a:solidFill>
              </a:rPr>
              <a:t>Определение языка, явные spam/ham на 3 языках, сигналы риска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1F1F63-C75F-4863-B88C-35F5B1E15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543050"/>
            <a:ext cx="3429000" cy="2238375"/>
          </a:xfrm>
          <a:prstGeom xmlns:a="http://schemas.openxmlformats.org/drawingml/2006/main" prst="roundRect">
            <a:avLst>
              <a:gd name="adj" fmla="val 9362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2A92F4-5BA5-497D-B192-B51B46D55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1752600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318"/>
                </a:solidFill>
              </a:defRPr>
            </a:pPr>
            <a:r>
              <a:rPr sz="1575" b="1">
                <a:solidFill>
                  <a:srgbClr val="111318"/>
                </a:solidFill>
              </a:rPr>
              <a:t>ML‑тест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6FE3B6-4664-4A73-9A8E-05F086949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219325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3D8DFF"/>
                </a:solidFill>
              </a:defRPr>
            </a:pPr>
            <a:r>
              <a:rPr sz="2700" b="1">
                <a:solidFill>
                  <a:srgbClr val="3D8DFF"/>
                </a:solidFill>
              </a:rPr>
              <a:t>4 968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7358EB-D1DC-4B80-85DC-C40CF27D7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924175"/>
            <a:ext cx="2971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572"/>
                </a:solidFill>
              </a:defRPr>
            </a:pPr>
            <a:r>
              <a:rPr sz="1200" b="0">
                <a:solidFill>
                  <a:srgbClr val="5E6572"/>
                </a:solidFill>
              </a:rPr>
              <a:t>Отложенных сообщений; матрица ошибок и метрики в целом и по языкам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8771EB-B585-427C-9BA7-0C5A945B6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543050"/>
            <a:ext cx="3429000" cy="2238375"/>
          </a:xfrm>
          <a:prstGeom xmlns:a="http://schemas.openxmlformats.org/drawingml/2006/main" prst="roundRect">
            <a:avLst>
              <a:gd name="adj" fmla="val 9362"/>
            </a:avLst>
          </a:prstGeom>
          <a:solidFill xmlns:a="http://schemas.openxmlformats.org/drawingml/2006/main">
            <a:srgbClr val="FFF6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D60248-932E-4C31-95D3-116F0072C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752600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318"/>
                </a:solidFill>
              </a:defRPr>
            </a:pPr>
            <a:r>
              <a:rPr sz="1575" b="1">
                <a:solidFill>
                  <a:srgbClr val="111318"/>
                </a:solidFill>
              </a:rPr>
              <a:t>UI smoke‑test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F1A000-DF19-4029-A7BB-46FB91641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19325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E59A2F"/>
                </a:solidFill>
              </a:defRPr>
            </a:pPr>
            <a:r>
              <a:rPr sz="2700" b="1">
                <a:solidFill>
                  <a:srgbClr val="E59A2F"/>
                </a:solidFill>
              </a:rPr>
              <a:t>3 состояния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61FCE8-DC9A-4002-9218-1C1EF920D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24175"/>
            <a:ext cx="2971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E6572"/>
                </a:solidFill>
              </a:defRPr>
            </a:pPr>
            <a:r>
              <a:rPr sz="1200" b="0">
                <a:solidFill>
                  <a:srgbClr val="5E6572"/>
                </a:solidFill>
              </a:rPr>
              <a:t>Главный экран, результат и аналитика; исправлен KeyError sample_note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F5D485-839B-4C4B-9775-20110AD2C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1910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318"/>
                </a:solidFill>
              </a:defRPr>
            </a:pPr>
            <a:r>
              <a:rPr sz="1800" b="1">
                <a:solidFill>
                  <a:srgbClr val="111318"/>
                </a:solidFill>
              </a:rPr>
              <a:t>План доработок после тестов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D0741A-C2C7-4FC7-98A5-948D45C70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705350"/>
            <a:ext cx="1143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BF99E6-9D99-45BE-B795-56DE8D80C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72025"/>
            <a:ext cx="914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D9D78"/>
                </a:solidFill>
              </a:defRPr>
            </a:pPr>
            <a:r>
              <a:rPr sz="1050" b="1">
                <a:solidFill>
                  <a:srgbClr val="2D9D78"/>
                </a:solidFill>
              </a:rPr>
              <a:t>Сейчас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F8DED2-2EA0-45BE-BEF0-5187BDF63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743450"/>
            <a:ext cx="942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318"/>
                </a:solidFill>
              </a:defRPr>
            </a:pPr>
            <a:r>
              <a:rPr sz="1275" b="1">
                <a:solidFill>
                  <a:srgbClr val="111318"/>
                </a:solidFill>
              </a:rPr>
              <a:t>fallback для sample_note, единый русский интерфейс, стабильный рендер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AA7ADF-7C72-48E9-AC67-9E3A7E7D8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219700"/>
            <a:ext cx="1143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4C2C1F-31FE-42AB-AF39-67C70A717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86375"/>
            <a:ext cx="914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11318"/>
                </a:solidFill>
              </a:defRPr>
            </a:pPr>
            <a:r>
              <a:rPr sz="1050" b="1">
                <a:solidFill>
                  <a:srgbClr val="111318"/>
                </a:solidFill>
              </a:rPr>
              <a:t>Следом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AAA8CFD-BE3E-4375-8F9D-0B262161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57800"/>
            <a:ext cx="942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318"/>
                </a:solidFill>
              </a:defRPr>
            </a:pPr>
            <a:r>
              <a:rPr sz="1275" b="0">
                <a:solidFill>
                  <a:srgbClr val="111318"/>
                </a:solidFill>
              </a:rPr>
              <a:t>собрать реальные русские ошибки и настроить threshold по цене FN / FP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B28376-F3BF-4CB9-80A4-949181C05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734050"/>
            <a:ext cx="1143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F3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4D87E2-4D2B-48A3-B410-E7B6C5893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00725"/>
            <a:ext cx="914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111318"/>
                </a:solidFill>
              </a:defRPr>
            </a:pPr>
            <a:r>
              <a:rPr sz="1050" b="1">
                <a:solidFill>
                  <a:srgbClr val="111318"/>
                </a:solidFill>
              </a:rPr>
              <a:t>Проверить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2CDD9E-9787-4008-899D-26C98923C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772150"/>
            <a:ext cx="942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318"/>
                </a:solidFill>
              </a:defRPr>
            </a:pPr>
            <a:r>
              <a:rPr sz="1275" b="0">
                <a:solidFill>
                  <a:srgbClr val="111318"/>
                </a:solidFill>
              </a:rPr>
              <a:t>5 пользователей: task success ≥90%, время ≤30 с, SUS ≥70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CBA8A98-C7DC-41F8-9B56-FE3832E5E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63150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3545B"/>
                </a:solidFill>
              </a:defRPr>
            </a:pPr>
            <a:r>
              <a:rPr sz="1125" b="1">
                <a:solidFill>
                  <a:srgbClr val="E3545B"/>
                </a:solidFill>
              </a:rPr>
              <a:t>Важно: продуктовые метрики пользователей — целевые, а не уже полученные; реального UX‑теста пока не было.</a:t>
            </a:r>
          </a:p>
        </p:txBody>
      </p:sp>
    </p:spTree>
    <p:extLst>
      <p:ext uri="{BB962C8B-B14F-4D97-AF65-F5344CB8AC3E}">
        <p14:creationId xmlns:p14="http://schemas.microsoft.com/office/powerpoint/2010/main" val="148419858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CB6916A-8A25-432C-A49D-B2CFA07F3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66700"/>
            <a:ext cx="819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SPAMGUARD • ПРОЕКТНЫЙ ПРАКТИКУМ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7ACF37-27FD-45AB-9C5B-02EFB9290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5245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318"/>
                </a:solidFill>
              </a:defRPr>
            </a:pPr>
            <a:r>
              <a:rPr sz="3000" b="1">
                <a:solidFill>
                  <a:srgbClr val="111318"/>
                </a:solidFill>
              </a:rPr>
              <a:t>Итог: идея доказана на уровне учебного MVP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E184EA-E434-48AF-ABB7-C3E5885BB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257300"/>
            <a:ext cx="1123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D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CD259F-FBF8-4D0F-9CF2-45C41327C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8F96A3"/>
                </a:solidFill>
              </a:defRPr>
            </a:pPr>
            <a:r>
              <a:rPr sz="975" b="0">
                <a:solidFill>
                  <a:srgbClr val="8F96A3"/>
                </a:solidFill>
              </a:rPr>
              <a:t>20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E32CCB-13AD-44CD-851D-DC020A556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466850"/>
            <a:ext cx="10858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E3A66"/>
                </a:solidFill>
              </a:defRPr>
            </a:pPr>
            <a:r>
              <a:rPr sz="2025" b="1">
                <a:solidFill>
                  <a:srgbClr val="0E3A66"/>
                </a:solidFill>
              </a:rPr>
              <a:t>SpamGuard превращает сомнительное сообщение в понятный риск, объяснение и безопасный следующий шаг — на трёх языках и без внешнего API.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399409-5141-4A5A-B886-026761215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533650"/>
            <a:ext cx="7429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437BCF-9D0D-4355-BCA2-8E41656F6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6289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41D8AB-5A73-418C-B393-546818F42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571750"/>
            <a:ext cx="2333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318"/>
                </a:solidFill>
              </a:defRPr>
            </a:pPr>
            <a:r>
              <a:rPr sz="1425" b="1">
                <a:solidFill>
                  <a:srgbClr val="111318"/>
                </a:solidFill>
              </a:rPr>
              <a:t>Идея и ЦА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E1345C-7281-4784-B916-A684A027C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717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Проблема, портрет, конкуренты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53B38C-56F0-4003-A3B1-567344C3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5717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слайды 3–7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574C0D-0CA5-4994-857E-F41E6DA1C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152775"/>
            <a:ext cx="7429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373DCA-1FAC-40C0-85B4-6F5537BB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24802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20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7536B2-DCCE-44D5-961C-30D2A9A56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190875"/>
            <a:ext cx="2333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318"/>
                </a:solidFill>
              </a:defRPr>
            </a:pPr>
            <a:r>
              <a:rPr sz="1425" b="1">
                <a:solidFill>
                  <a:srgbClr val="111318"/>
                </a:solidFill>
              </a:rPr>
              <a:t>Техническая часть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8E5B5D-4153-4F51-858C-63181402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190875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Работающий интерфейс, данные, ML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235B59-3DDE-4C64-BDA3-3B30F6457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1908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слайды 8–15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FA34F2-8EAA-4623-B746-B65ED16BA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771900"/>
            <a:ext cx="7429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6AB652-72F0-4B25-9814-68259EA7C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8671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A8C2B8-5ED0-4F7B-8C8D-B31D6F77A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3810000"/>
            <a:ext cx="2333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318"/>
                </a:solidFill>
              </a:defRPr>
            </a:pPr>
            <a:r>
              <a:rPr sz="1425" b="1">
                <a:solidFill>
                  <a:srgbClr val="111318"/>
                </a:solidFill>
              </a:rPr>
              <a:t>Метрики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C049DB-8269-471F-86D9-AD760D037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8100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Методология, F1, ошибки, языки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2BE7A2-7349-40F7-B9DD-23357B5C3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8100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слайды 16–18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CEF84C-6EAF-4C7A-BAB7-A1CCD5B69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391025"/>
            <a:ext cx="7429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D97BCA-6C90-472A-A715-44EFDDD33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86275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036AA6-C903-4078-A148-11447BCAF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429125"/>
            <a:ext cx="2333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318"/>
                </a:solidFill>
              </a:defRPr>
            </a:pPr>
            <a:r>
              <a:rPr sz="1425" b="1">
                <a:solidFill>
                  <a:srgbClr val="111318"/>
                </a:solidFill>
              </a:rPr>
              <a:t>Тестирование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A6C08E5-E4B0-4EF6-BD7E-A0E827CFC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429125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unit, holdout, UI, план UX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9A59668-27BE-426A-9AFE-A85887766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4291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слайд 19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452122-C27E-4674-A079-0176741A2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010150"/>
            <a:ext cx="7429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111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DBA94F-2A83-4F6B-981A-C84AD98A6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10540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DCBF4"/>
                </a:solidFill>
              </a:defRPr>
            </a:pPr>
            <a:r>
              <a:rPr sz="1500" b="1">
                <a:solidFill>
                  <a:srgbClr val="6DCBF4"/>
                </a:solidFill>
              </a:rPr>
              <a:t>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E8B12F-2F8D-4074-B6C3-393A5C694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048250"/>
            <a:ext cx="2333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318"/>
                </a:solidFill>
              </a:defRPr>
            </a:pPr>
            <a:r>
              <a:rPr sz="1425" b="1">
                <a:solidFill>
                  <a:srgbClr val="111318"/>
                </a:solidFill>
              </a:rPr>
              <a:t>Презентация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E86BC3-8A4D-4120-A9AC-32B0220B2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0482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E6572"/>
                </a:solidFill>
              </a:defRPr>
            </a:pPr>
            <a:r>
              <a:rPr sz="1275" b="0">
                <a:solidFill>
                  <a:srgbClr val="5E6572"/>
                </a:solidFill>
              </a:rPr>
              <a:t>Логика, визуализация, ограничения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70A5C09-77E6-4426-9225-1BCDD391C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482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весь документ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CFED240-3E15-4C3E-932F-A01473B4F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857875"/>
            <a:ext cx="11239500" cy="514350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96ACE2-D9BA-40FF-8958-0464F3218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6000750"/>
            <a:ext cx="1076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D9D78"/>
                </a:solidFill>
              </a:defRPr>
            </a:pPr>
            <a:r>
              <a:rPr sz="1350" b="1">
                <a:solidFill>
                  <a:srgbClr val="2D9D78"/>
                </a:solidFill>
              </a:rPr>
              <a:t>Следующий осмысленный шаг: собрать пользовательские ошибки и реальные испанские данные — не усложнять модель раньше времени.</a:t>
            </a:r>
          </a:p>
        </p:txBody>
      </p:sp>
    </p:spTree>
    <p:extLst>
      <p:ext uri="{BB962C8B-B14F-4D97-AF65-F5344CB8AC3E}">
        <p14:creationId xmlns:p14="http://schemas.microsoft.com/office/powerpoint/2010/main" val="5764959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2026-09-01T10:42:15.1130000Z</dcterms:created>
  <dcterms:modified xsi:type="dcterms:W3CDTF">2026-09-01T10:42:15.1130000Z</dcterms:modified>
</coreProperties>
</file>