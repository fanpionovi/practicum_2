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af9d4d9c7469b" /><Relationship Type="http://schemas.openxmlformats.org/officeDocument/2006/relationships/extended-properties" Target="/docProps/app.xml" Id="R4b546f47a8a84ada" /><Relationship Type="http://schemas.openxmlformats.org/officeDocument/2006/relationships/officeDocument" Target="/ppt/presentation.xml" Id="R754acbdf26da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b9e35f4974167"/>
  </p:sldMasterIdLst>
  <p:notesMasterIdLst>
    <p:notesMasterId xmlns:r="http://schemas.openxmlformats.org/officeDocument/2006/relationships" r:id="R753743a03cb74e0a"/>
  </p:notesMasterIdLst>
  <p:sldIdLst>
    <p:sldId xmlns:r="http://schemas.openxmlformats.org/officeDocument/2006/relationships" id="256" r:id="R175b5d08f2974941"/>
    <p:sldId xmlns:r="http://schemas.openxmlformats.org/officeDocument/2006/relationships" id="257" r:id="Rc4dee8d26d8d4da3"/>
    <p:sldId xmlns:r="http://schemas.openxmlformats.org/officeDocument/2006/relationships" id="258" r:id="R4a1275c9dbce4fb4"/>
    <p:sldId xmlns:r="http://schemas.openxmlformats.org/officeDocument/2006/relationships" id="259" r:id="Re35b9732ed374182"/>
    <p:sldId xmlns:r="http://schemas.openxmlformats.org/officeDocument/2006/relationships" id="260" r:id="R5ec3226450084441"/>
    <p:sldId xmlns:r="http://schemas.openxmlformats.org/officeDocument/2006/relationships" id="261" r:id="Rda6f6528e86247df"/>
    <p:sldId xmlns:r="http://schemas.openxmlformats.org/officeDocument/2006/relationships" id="262" r:id="R7d3c274fc5d94457"/>
    <p:sldId xmlns:r="http://schemas.openxmlformats.org/officeDocument/2006/relationships" id="263" r:id="Rb4b22ccde7594a02"/>
    <p:sldId xmlns:r="http://schemas.openxmlformats.org/officeDocument/2006/relationships" id="264" r:id="Rb42c583a77a04446"/>
    <p:sldId xmlns:r="http://schemas.openxmlformats.org/officeDocument/2006/relationships" id="265" r:id="R53f370c050354f3d"/>
    <p:sldId xmlns:r="http://schemas.openxmlformats.org/officeDocument/2006/relationships" id="266" r:id="Re3050d89e7c54814"/>
    <p:sldId xmlns:r="http://schemas.openxmlformats.org/officeDocument/2006/relationships" id="267" r:id="Reefddf9a2f1f4e0a"/>
    <p:sldId xmlns:r="http://schemas.openxmlformats.org/officeDocument/2006/relationships" id="268" r:id="R8f1bb5cd051f4fdd"/>
    <p:sldId xmlns:r="http://schemas.openxmlformats.org/officeDocument/2006/relationships" id="269" r:id="Rd018fdcc144d4db5"/>
    <p:sldId xmlns:r="http://schemas.openxmlformats.org/officeDocument/2006/relationships" id="270" r:id="Rde0e9487d63e44a2"/>
    <p:sldId xmlns:r="http://schemas.openxmlformats.org/officeDocument/2006/relationships" id="271" r:id="Ra276049a33ce4d38"/>
    <p:sldId xmlns:r="http://schemas.openxmlformats.org/officeDocument/2006/relationships" id="272" r:id="Rf203eebf08df43d5"/>
    <p:sldId xmlns:r="http://schemas.openxmlformats.org/officeDocument/2006/relationships" id="273" r:id="R610a2205909e43ce"/>
    <p:sldId xmlns:r="http://schemas.openxmlformats.org/officeDocument/2006/relationships" id="274" r:id="R0bdd8edf57274f46"/>
    <p:sldId xmlns:r="http://schemas.openxmlformats.org/officeDocument/2006/relationships" id="275" r:id="R697c1cdaa6fe45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954271df948d7" /><Relationship Type="http://schemas.openxmlformats.org/officeDocument/2006/relationships/slideMaster" Target="/ppt/slideMasters/slideMaster1.xml" Id="Ra40b9e35f4974167" /><Relationship Type="http://schemas.openxmlformats.org/officeDocument/2006/relationships/notesMaster" Target="/ppt/notesMasters/notesMaster1.xml" Id="R753743a03cb74e0a" /><Relationship Type="http://schemas.openxmlformats.org/officeDocument/2006/relationships/presProps" Target="/ppt/presProps.xml" Id="R0fd87759fd604fb6" /><Relationship Type="http://schemas.openxmlformats.org/officeDocument/2006/relationships/tableStyles" Target="/ppt/tableStyles.xml" Id="Raea647b841844e3c" /><Relationship Type="http://schemas.openxmlformats.org/officeDocument/2006/relationships/slide" Target="/ppt/slides/slide1.xml" Id="R175b5d08f2974941" /><Relationship Type="http://schemas.openxmlformats.org/officeDocument/2006/relationships/slide" Target="/ppt/slides/slide2.xml" Id="Rc4dee8d26d8d4da3" /><Relationship Type="http://schemas.openxmlformats.org/officeDocument/2006/relationships/slide" Target="/ppt/slides/slide3.xml" Id="R4a1275c9dbce4fb4" /><Relationship Type="http://schemas.openxmlformats.org/officeDocument/2006/relationships/slide" Target="/ppt/slides/slide4.xml" Id="Re35b9732ed374182" /><Relationship Type="http://schemas.openxmlformats.org/officeDocument/2006/relationships/slide" Target="/ppt/slides/slide5.xml" Id="R5ec3226450084441" /><Relationship Type="http://schemas.openxmlformats.org/officeDocument/2006/relationships/slide" Target="/ppt/slides/slide6.xml" Id="Rda6f6528e86247df" /><Relationship Type="http://schemas.openxmlformats.org/officeDocument/2006/relationships/slide" Target="/ppt/slides/slide7.xml" Id="R7d3c274fc5d94457" /><Relationship Type="http://schemas.openxmlformats.org/officeDocument/2006/relationships/slide" Target="/ppt/slides/slide8.xml" Id="Rb4b22ccde7594a02" /><Relationship Type="http://schemas.openxmlformats.org/officeDocument/2006/relationships/slide" Target="/ppt/slides/slide9.xml" Id="Rb42c583a77a04446" /><Relationship Type="http://schemas.openxmlformats.org/officeDocument/2006/relationships/slide" Target="/ppt/slides/slide10.xml" Id="R53f370c050354f3d" /><Relationship Type="http://schemas.openxmlformats.org/officeDocument/2006/relationships/slide" Target="/ppt/slides/slide11.xml" Id="Re3050d89e7c54814" /><Relationship Type="http://schemas.openxmlformats.org/officeDocument/2006/relationships/slide" Target="/ppt/slides/slide12.xml" Id="Reefddf9a2f1f4e0a" /><Relationship Type="http://schemas.openxmlformats.org/officeDocument/2006/relationships/slide" Target="/ppt/slides/slide13.xml" Id="R8f1bb5cd051f4fdd" /><Relationship Type="http://schemas.openxmlformats.org/officeDocument/2006/relationships/slide" Target="/ppt/slides/slide14.xml" Id="Rd018fdcc144d4db5" /><Relationship Type="http://schemas.openxmlformats.org/officeDocument/2006/relationships/slide" Target="/ppt/slides/slide15.xml" Id="Rde0e9487d63e44a2" /><Relationship Type="http://schemas.openxmlformats.org/officeDocument/2006/relationships/slide" Target="/ppt/slides/slide16.xml" Id="Ra276049a33ce4d38" /><Relationship Type="http://schemas.openxmlformats.org/officeDocument/2006/relationships/slide" Target="/ppt/slides/slide17.xml" Id="Rf203eebf08df43d5" /><Relationship Type="http://schemas.openxmlformats.org/officeDocument/2006/relationships/slide" Target="/ppt/slides/slide18.xml" Id="R610a2205909e43ce" /><Relationship Type="http://schemas.openxmlformats.org/officeDocument/2006/relationships/slide" Target="/ppt/slides/slide19.xml" Id="R0bdd8edf57274f46" /><Relationship Type="http://schemas.openxmlformats.org/officeDocument/2006/relationships/slide" Target="/ppt/slides/slide20.xml" Id="R697c1cdaa6fe45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8456021af942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84414af054942" /><Relationship Type="http://schemas.openxmlformats.org/officeDocument/2006/relationships/notesMaster" Target="/ppt/notesMasters/notesMaster1.xml" Id="R960985a7b17048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ea5f12a844a93" /><Relationship Type="http://schemas.openxmlformats.org/officeDocument/2006/relationships/notesMaster" Target="/ppt/notesMasters/notesMaster1.xml" Id="Rb67f27f88bf4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53c76fe38f476a" /><Relationship Type="http://schemas.openxmlformats.org/officeDocument/2006/relationships/notesMaster" Target="/ppt/notesMasters/notesMaster1.xml" Id="Rd63fb0a38b844b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d7339425047a9" /><Relationship Type="http://schemas.openxmlformats.org/officeDocument/2006/relationships/notesMaster" Target="/ppt/notesMasters/notesMaster1.xml" Id="R02f8aa375d80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0de1566d8c4075" /><Relationship Type="http://schemas.openxmlformats.org/officeDocument/2006/relationships/notesMaster" Target="/ppt/notesMasters/notesMaster1.xml" Id="R7d6107485f20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0087a25faf4177" /><Relationship Type="http://schemas.openxmlformats.org/officeDocument/2006/relationships/notesMaster" Target="/ppt/notesMasters/notesMaster1.xml" Id="R6ac7f0d73c1d4a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a2c3bcb6994ecf" /><Relationship Type="http://schemas.openxmlformats.org/officeDocument/2006/relationships/notesMaster" Target="/ppt/notesMasters/notesMaster1.xml" Id="R719cabcaa1de45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59199a389a4d78" /><Relationship Type="http://schemas.openxmlformats.org/officeDocument/2006/relationships/notesMaster" Target="/ppt/notesMasters/notesMaster1.xml" Id="Rcccce68802a441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328b38e8454c4b" /><Relationship Type="http://schemas.openxmlformats.org/officeDocument/2006/relationships/notesMaster" Target="/ppt/notesMasters/notesMaster1.xml" Id="R6eeef89d33c449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e38c526ae46b5" /><Relationship Type="http://schemas.openxmlformats.org/officeDocument/2006/relationships/notesMaster" Target="/ppt/notesMasters/notesMaster1.xml" Id="R5fa0a2b52e5046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7c1876e9a14a1e" /><Relationship Type="http://schemas.openxmlformats.org/officeDocument/2006/relationships/notesMaster" Target="/ppt/notesMasters/notesMaster1.xml" Id="R135d84c60d074b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81029706094289" /><Relationship Type="http://schemas.openxmlformats.org/officeDocument/2006/relationships/notesMaster" Target="/ppt/notesMasters/notesMaster1.xml" Id="Rad4856005b714c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7280799bf94098" /><Relationship Type="http://schemas.openxmlformats.org/officeDocument/2006/relationships/notesMaster" Target="/ppt/notesMasters/notesMaster1.xml" Id="R58485ca7601e45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d022175ef948dd" /><Relationship Type="http://schemas.openxmlformats.org/officeDocument/2006/relationships/notesMaster" Target="/ppt/notesMasters/notesMaster1.xml" Id="R43e1bca0dafd4b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45d3a5600044ef" /><Relationship Type="http://schemas.openxmlformats.org/officeDocument/2006/relationships/notesMaster" Target="/ppt/notesMasters/notesMaster1.xml" Id="R8c72fb1f7d4b4d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3f1624506c4b75" /><Relationship Type="http://schemas.openxmlformats.org/officeDocument/2006/relationships/notesMaster" Target="/ppt/notesMasters/notesMaster1.xml" Id="Rae3f312bd37c46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704801accb4fab" /><Relationship Type="http://schemas.openxmlformats.org/officeDocument/2006/relationships/notesMaster" Target="/ppt/notesMasters/notesMaster1.xml" Id="R8e89bd2d007c40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a692a4fa5b47ab" /><Relationship Type="http://schemas.openxmlformats.org/officeDocument/2006/relationships/notesMaster" Target="/ppt/notesMasters/notesMaster1.xml" Id="R2155352b4f2344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60bfb370ae4b2c" /><Relationship Type="http://schemas.openxmlformats.org/officeDocument/2006/relationships/notesMaster" Target="/ppt/notesMasters/notesMaster1.xml" Id="R4594d5e9c15d46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bb59b4b1394862" /><Relationship Type="http://schemas.openxmlformats.org/officeDocument/2006/relationships/notesMaster" Target="/ppt/notesMasters/notesMaster1.xml" Id="R96190245d1c8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Внутренний проект: app.py, spam_model.py, README.md</a:t>
            </a:r>
          </a:p>
          <a:p xmlns:a="http://schemas.openxmlformats.org/drawingml/2006/main">
            <a:r>
              <a:t>- Собственный снимок работающего MVP: presentation_build/assets/app-home.png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Внутренние результаты: spam_model.py и tests/test_model.py</a:t>
            </a:r>
          </a:p>
          <a:p xmlns:a="http://schemas.openxmlformats.org/drawingml/2006/main">
            <a:r>
              <a:t>- Функциональность: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Концепция и пользовательская проблема сформулированы на основе сценариев app.py</a:t>
            </a:r>
          </a:p>
          <a:p xmlns:a="http://schemas.openxmlformats.org/drawingml/2006/main">
            <a:r>
              <a:t>- Примеры риск-сигналов: spam_model.py::risk_signals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Авторский портрет ЦА и ограничения продукта: README.md</a:t>
            </a:r>
          </a:p>
          <a:p xmlns:a="http://schemas.openxmlformats.org/drawingml/2006/main">
            <a:r>
              <a:t>- Сценарии единичной и пакетной проверки: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сценарий и способ решения: app.py</a:t>
            </a:r>
          </a:p>
          <a:p xmlns:a="http://schemas.openxmlformats.org/drawingml/2006/main">
            <a:r>
              <a:t>- Концепция объяснимого результата: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Messages: https://support.google.com/messages/answer/9327903?hl=en-GB</a:t>
            </a:r>
          </a:p>
          <a:p xmlns:a="http://schemas.openxmlformats.org/drawingml/2006/main">
            <a:r>
              <a:t>- Apple: https://support.apple.com/en-us/125068</a:t>
            </a:r>
          </a:p>
          <a:p xmlns:a="http://schemas.openxmlformats.org/drawingml/2006/main">
            <a:r>
              <a:t>- Truecaller Premium: https://www.truecaller.com/premium</a:t>
            </a:r>
          </a:p>
          <a:p xmlns:a="http://schemas.openxmlformats.org/drawingml/2006/main">
            <a:r>
              <a:t>- Kaspersky Who Calls: https://www.kaspersky.ru/blog/installation-and-setup-of-kaspersky-who-calls/38547/</a:t>
            </a:r>
          </a:p>
          <a:p xmlns:a="http://schemas.openxmlformats.org/drawingml/2006/main">
            <a:r>
              <a:t>- SpamGuard: README.md и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Функциональность и локальная обработка: app.py и README.md</a:t>
            </a:r>
          </a:p>
          <a:p xmlns:a="http://schemas.openxmlformats.org/drawingml/2006/main">
            <a:r>
              <a:t>- Регулируемый threshold: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ML-пайплайн: spam_model.py</a:t>
            </a:r>
          </a:p>
          <a:p xmlns:a="http://schemas.openxmlformats.org/drawingml/2006/main">
            <a:r>
              <a:t>- Интерфейс вероятности, признаков и threshold: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Реализованные режимы приложения: app.py</a:t>
            </a:r>
          </a:p>
          <a:p xmlns:a="http://schemas.openxmlformats.org/drawingml/2006/main">
            <a:r>
              <a:t>- Ограничение batch = 1000 сообщений: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Собственный снимок MVP: presentation_build/assets/app-home.png</a:t>
            </a:r>
          </a:p>
          <a:p xmlns:a="http://schemas.openxmlformats.org/drawingml/2006/main">
            <a:r>
              <a:t>- Реализация интерфейса: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Собственный снимок результата: presentation_build/assets/app-result.png</a:t>
            </a:r>
          </a:p>
          <a:p xmlns:a="http://schemas.openxmlformats.org/drawingml/2006/main">
            <a:r>
              <a:t>- Расчёт вероятности и сигналов: spam_model.py</a:t>
            </a:r>
          </a:p>
          <a:p xmlns:a="http://schemas.openxmlformats.org/drawingml/2006/main">
            <a:r>
              <a:t>- Визуализация: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UCI SMS Spam Collection: https://archive.ics.uci.edu/dataset/228/sms+spam+collection</a:t>
            </a:r>
          </a:p>
          <a:p xmlns:a="http://schemas.openxmlformats.org/drawingml/2006/main">
            <a:r>
              <a:t>- DmitryKRX/anti_spam_ru: https://huggingface.co/datasets/DmitryKRX/anti_spam_ru</a:t>
            </a:r>
          </a:p>
          <a:p xmlns:a="http://schemas.openxmlformats.org/drawingml/2006/main">
            <a:r>
              <a:t>- Фактическая подготовка данных: spam_model.py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Внутренний расчёт состава: spam_model.py; dataset.groupby(language, label)</a:t>
            </a:r>
          </a:p>
          <a:p xmlns:a="http://schemas.openxmlformats.org/drawingml/2006/main">
            <a:r>
              <a:t>- Данные рассчитаны на фиксированной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Параметры TfidfVectorizer, FeatureUnion и LogisticRegression: spam_model.py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Зависимости: requirements.txt</a:t>
            </a:r>
          </a:p>
          <a:p xmlns:a="http://schemas.openxmlformats.org/drawingml/2006/main">
            <a:r>
              <a:t>- Архитектура: app.py и spam_model.py</a:t>
            </a:r>
          </a:p>
          <a:p xmlns:a="http://schemas.openxmlformats.org/drawingml/2006/main">
            <a:r>
              <a:t>- Фактический замер обучения/автотестов: 23–26 с на текущем окружении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Разделение, предсказания и расчёт метрик: spam_model.py</a:t>
            </a:r>
          </a:p>
          <a:p xmlns:a="http://schemas.openxmlformats.org/drawingml/2006/main">
            <a:r>
              <a:t>- Test set фиксирован random_state=42; метрики рассчитаны на фиксированном разделении данных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Фактические метрики test set: spam_model.py</a:t>
            </a:r>
          </a:p>
          <a:p xmlns:a="http://schemas.openxmlformats.org/drawingml/2006/main">
            <a:r>
              <a:t>- Значения: accuracy=0.974436; precision=0.976162; recall=0.949565; f1=0.962680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Матрица ошибок и метрики по языкам: spam_model.py</a:t>
            </a:r>
          </a:p>
          <a:p xmlns:a="http://schemas.openxmlformats.org/drawingml/2006/main">
            <a:r>
              <a:t>- Фактическая matrix=[[3203,40],[87,1638]]; by_language рассчитано на отложенной выборке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Автотесты: tests/test_model.py; результат запуска — OK, 4/4</a:t>
            </a:r>
          </a:p>
          <a:p xmlns:a="http://schemas.openxmlformats.org/drawingml/2006/main">
            <a:r>
              <a:t>- UI и исправление KeyError: app.py и ui_text.py</a:t>
            </a:r>
          </a:p>
          <a:p xmlns:a="http://schemas.openxmlformats.org/drawingml/2006/main">
            <a:r>
              <a:t>- Снимки состояний: presentation_build/assets/app-home.png, app-result.png, app-analytics.png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Критерии защиты предоставлены в задании пользователя</a:t>
            </a:r>
          </a:p>
          <a:p xmlns:a="http://schemas.openxmlformats.org/drawingml/2006/main">
            <a:r>
              <a:t>- Сводные доказательства: app.py, spam_model.py, tests/test_model.py,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cc50707a34f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114b3b9b9d4499" /><Relationship Type="http://schemas.openxmlformats.org/officeDocument/2006/relationships/slideLayout" Target="/ppt/slideLayouts/slideLayout1.xml" Id="Rdb084107808e48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84107808e48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e4aa6b694367" /><Relationship Type="http://schemas.openxmlformats.org/officeDocument/2006/relationships/image" Target="/ppt/media/image.jpeg" Id="Rca0dfb5f0579426c" /><Relationship Type="http://schemas.openxmlformats.org/officeDocument/2006/relationships/notesSlide" Target="/ppt/notesSlides/notesSlide1.xml" Id="R5fc6685897a4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c3f9cadd94bf0" /><Relationship Type="http://schemas.openxmlformats.org/officeDocument/2006/relationships/notesSlide" Target="/ppt/notesSlides/notesSlide2.xml" Id="R1b3b02e7b93d4f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d00dfa87a43c6" /><Relationship Type="http://schemas.openxmlformats.org/officeDocument/2006/relationships/notesSlide" Target="/ppt/notesSlides/notesSlide3.xml" Id="R9759e7c07b6b4f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3062bbb1e45e4" /><Relationship Type="http://schemas.openxmlformats.org/officeDocument/2006/relationships/notesSlide" Target="/ppt/notesSlides/notesSlide4.xml" Id="R0fa5d2e665ab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f5def3b0d4489" /><Relationship Type="http://schemas.openxmlformats.org/officeDocument/2006/relationships/notesSlide" Target="/ppt/notesSlides/notesSlide5.xml" Id="R453337bdc199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22233d8bf4d68" /><Relationship Type="http://schemas.openxmlformats.org/officeDocument/2006/relationships/notesSlide" Target="/ppt/notesSlides/notesSlide6.xml" Id="R3fd60066a6d0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b676986114baa" /><Relationship Type="http://schemas.openxmlformats.org/officeDocument/2006/relationships/notesSlide" Target="/ppt/notesSlides/notesSlide7.xml" Id="R9a1ffa676f5046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380be7f714fa4" /><Relationship Type="http://schemas.openxmlformats.org/officeDocument/2006/relationships/notesSlide" Target="/ppt/notesSlides/notesSlide8.xml" Id="Rdf2a60ce9608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75252a3614fcc" /><Relationship Type="http://schemas.openxmlformats.org/officeDocument/2006/relationships/notesSlide" Target="/ppt/notesSlides/notesSlide9.xml" Id="R3cd304a6fdee45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2c66a5fef40ad" /><Relationship Type="http://schemas.openxmlformats.org/officeDocument/2006/relationships/image" Target="/ppt/media/image2.jpeg" Id="R692a8d4044894508" /><Relationship Type="http://schemas.openxmlformats.org/officeDocument/2006/relationships/notesSlide" Target="/ppt/notesSlides/notesSlide10.xml" Id="R73bef164e16348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6a34f64864bd9" /><Relationship Type="http://schemas.openxmlformats.org/officeDocument/2006/relationships/image" Target="/ppt/media/image3.jpeg" Id="R6b9537d7b48e460d" /><Relationship Type="http://schemas.openxmlformats.org/officeDocument/2006/relationships/notesSlide" Target="/ppt/notesSlides/notesSlide11.xml" Id="Rada21a83e9f843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1c4975ad94d5c" /><Relationship Type="http://schemas.openxmlformats.org/officeDocument/2006/relationships/notesSlide" Target="/ppt/notesSlides/notesSlide12.xml" Id="R200ea462f90f40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96bbc05ee445d" /><Relationship Type="http://schemas.openxmlformats.org/officeDocument/2006/relationships/chart" Target="/ppt/slides/charts/chart1.xml" Id="R3d1d7c0fa0ea40d6" /><Relationship Type="http://schemas.openxmlformats.org/officeDocument/2006/relationships/notesSlide" Target="/ppt/notesSlides/notesSlide13.xml" Id="R3ec3c6b878694d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acec539cc41fe" /><Relationship Type="http://schemas.openxmlformats.org/officeDocument/2006/relationships/notesSlide" Target="/ppt/notesSlides/notesSlide14.xml" Id="R8b75c8f1dd0741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85118df0c4c90" /><Relationship Type="http://schemas.openxmlformats.org/officeDocument/2006/relationships/notesSlide" Target="/ppt/notesSlides/notesSlide15.xml" Id="R4ed2a3727ca24c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c1ca93684f8a" /><Relationship Type="http://schemas.openxmlformats.org/officeDocument/2006/relationships/notesSlide" Target="/ppt/notesSlides/notesSlide16.xml" Id="R715788596b3c4f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c5153a40a4619" /><Relationship Type="http://schemas.openxmlformats.org/officeDocument/2006/relationships/notesSlide" Target="/ppt/notesSlides/notesSlide17.xml" Id="R542f1e13676b4e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2a76e83d1418e" /><Relationship Type="http://schemas.openxmlformats.org/officeDocument/2006/relationships/notesSlide" Target="/ppt/notesSlides/notesSlide18.xml" Id="R5ec07ba838ce45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4ed1a90f24782" /><Relationship Type="http://schemas.openxmlformats.org/officeDocument/2006/relationships/notesSlide" Target="/ppt/notesSlides/notesSlide19.xml" Id="Ree3de84d8db94f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0a2611bd43d4" /><Relationship Type="http://schemas.openxmlformats.org/officeDocument/2006/relationships/notesSlide" Target="/ppt/notesSlides/notesSlide20.xml" Id="R3c88d4aa2caf43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ham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Русский</c:v>
              </c:pt>
              <c:pt idx="1">
                <c:v>English</c:v>
              </c:pt>
              <c:pt idx="2">
                <c:v>Español</c:v>
              </c:pt>
            </c:strLit>
          </c:cat>
          <c:val>
            <c:numLit>
              <c:formatCode>#,##0</c:formatCode>
              <c:ptCount val="3"/>
              <c:pt idx="0">
                <c:v>11658</c:v>
              </c:pt>
              <c:pt idx="1">
                <c:v>4515</c:v>
              </c:pt>
              <c:pt idx="2">
                <c:v>42</c:v>
              </c:pt>
            </c:numLit>
          </c:val>
        </c:ser>
        <c:ser>
          <c:idx val="1"/>
          <c:order val="1"/>
          <c:tx>
            <c:v>spam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Русский</c:v>
              </c:pt>
              <c:pt idx="1">
                <c:v>English</c:v>
              </c:pt>
              <c:pt idx="2">
                <c:v>Español</c:v>
              </c:pt>
            </c:strLit>
          </c:cat>
          <c:val>
            <c:numLit>
              <c:formatCode>#,##0</c:formatCode>
              <c:ptCount val="3"/>
              <c:pt idx="0">
                <c:v>7936</c:v>
              </c:pt>
              <c:pt idx="1">
                <c:v>642</c:v>
              </c:pt>
              <c:pt idx="2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318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D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2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572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E65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DA917-9EA5-40C9-9B6E-BECD377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08CAD-E490-474F-A4FC-2EEC7664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ПРОЕКТНЫЙ ПРАКТИКУМ •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55879-9462-4C48-8939-563305E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318"/>
                </a:solidFill>
              </a:defRPr>
            </a:pPr>
            <a:r>
              <a:rPr sz="4350" b="1">
                <a:solidFill>
                  <a:srgbClr val="111318"/>
                </a:solidFill>
              </a:rPr>
              <a:t>SpamGuard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7DE5A-FB66-43CD-9665-6E45D25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E3A66"/>
                </a:solidFill>
              </a:defRPr>
            </a:pPr>
            <a:r>
              <a:rPr sz="2250" b="1">
                <a:solidFill>
                  <a:srgbClr val="0E3A66"/>
                </a:solidFill>
              </a:rPr>
              <a:t>Мультиязычная проверка сообщений на спам — локально, понятно и за секунды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93E6B-324F-4FA6-A453-3442742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2"/>
                </a:solidFill>
              </a:defRPr>
            </a:pPr>
            <a:r>
              <a:rPr sz="1500" b="0">
                <a:solidFill>
                  <a:srgbClr val="5E6572"/>
                </a:solidFill>
              </a:rPr>
              <a:t>Русский • English • Español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01C3D-022B-4244-B1C1-7B6F5EA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4D30F-B5D6-4621-A931-C0F2995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9D78"/>
                </a:solidFill>
              </a:defRPr>
            </a:pPr>
            <a:r>
              <a:rPr sz="1050" b="1">
                <a:solidFill>
                  <a:srgbClr val="2D9D78"/>
                </a:solidFill>
              </a:rPr>
              <a:t>РАБОТАЮЩИЙ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EAFE0-D49B-4A56-AEAE-32D1A77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6AA49-9C78-4200-BB59-81A41588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719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3A66"/>
                </a:solidFill>
              </a:defRPr>
            </a:pPr>
            <a:r>
              <a:rPr sz="1050" b="1">
                <a:solidFill>
                  <a:srgbClr val="0E3A66"/>
                </a:solidFill>
              </a:rPr>
              <a:t>F1 = 96,3%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9B85E-FB7C-4606-A355-AB35D6E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Классификация SMS, писем и сообщений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TF-IDF + Logistic Regression • 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2F21B-455E-40A7-9D9B-461EECB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1450"/>
            <a:ext cx="6286500" cy="628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F7FA1-EA43-4687-8EE6-128F585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"/>
            <a:ext cx="5010150" cy="5562600"/>
          </a:xfrm>
          <a:prstGeom xmlns:a="http://schemas.openxmlformats.org/drawingml/2006/main" prst="roundRect">
            <a:avLst>
              <a:gd name="adj" fmla="val 456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dfb5f0579426c"/>
          <a:srcRect xmlns:a="http://schemas.openxmlformats.org/drawingml/2006/main" l="6320" t="0" r="63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533400"/>
            <a:ext cx="4857750" cy="541020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</p:spTree>
    <p:extLst>
      <p:ext uri="{BB962C8B-B14F-4D97-AF65-F5344CB8AC3E}">
        <p14:creationId xmlns:p14="http://schemas.microsoft.com/office/powerpoint/2010/main" val="1598088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FF88E-6991-4C20-82A0-08845D9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24B7E-3BDE-4669-BED3-CB3890A4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Проект в одном слайде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5C549-0704-422E-9739-CBE4E20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DD8BE-DCAA-4D15-8667-BCC2214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1C65D-B0CC-446B-9275-5A8A434D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E3A66"/>
                </a:solidFill>
              </a:defRPr>
            </a:pPr>
            <a:r>
              <a:rPr sz="2100" b="1">
                <a:solidFill>
                  <a:srgbClr val="0E3A66"/>
                </a:solidFill>
              </a:rPr>
              <a:t>SpamGuard помогает принять безопасное решение до перехода по ссылке или ответа отправителю.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0923D-132E-4EB4-89EF-2DA7538F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342900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7AFEA-E3BD-423F-8239-32B777DC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7A1DA-8F40-4425-9C8B-0DE1D13D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91D4C-A819-4688-9BF2-F768F47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971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Пользователь видит подозрительное сообщение, но не может быстро оценить риск и понять, какие признаки его выдают.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9EDE8-08B9-4572-9D1E-C5BB246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342900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69DF9-5D87-4BCD-B8E7-896B38D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7EC0F-4EB8-4597-BA3B-F306E8DC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D464C-7C67-4223-8BF8-E4830AF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24200"/>
            <a:ext cx="2971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Вставить текст → получить вероятность спама → увидеть ключевые слова и структурные сигналы → выбрать безопасное действие.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3519F-4213-4482-8F06-74B2B6D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381000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47002-D425-4146-A60C-EA55077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020FF-5E68-40BF-85EA-D86FBDA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74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Доказательство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41EEB-D463-48E3-A549-FCC75EF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352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Работающий Streamlit‑MVP, 24 838 сообщений после дедупликации, test = 4 968, F1 = 96,3%, 4/4 автотеста.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41B3A-4E64-42AC-AC5B-24BF861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CB14D-7049-477C-8BC5-78990A60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языка интерфейса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B1912-16F8-46DB-A9B5-04E4ACC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24 838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521BF-6CBF-49E2-8B45-5023949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сообщений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AB7C9-DF1E-46F3-AA07-A886F63E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96,3%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F62EC-B268-4107-97A6-BA6EBAF1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F1 на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D5AFC-7974-4E3B-90E7-20FF3398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5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≤ 1 000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1A47D-4EF8-4351-9662-055D05E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строк в batch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A58E7-4868-4F96-978D-1EF5D18C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96A3"/>
                </a:solidFill>
              </a:defRPr>
            </a:pPr>
            <a:r>
              <a:rPr sz="1200" b="0">
                <a:solidFill>
                  <a:srgbClr val="8F96A3"/>
                </a:solidFill>
              </a:rPr>
              <a:t>Статус: учебный прототип. Для промышленного запуска нужна валидация на данных конкретного канала и тест с реальными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1694812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02641-9B04-4612-8A1A-3F4B02B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8537-52D9-41B2-BD7B-44231B51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Актуальность: решение нужно принять до клика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FB5C9-882F-4C5C-82AB-C6C299C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55A65-CE74-4476-853A-833FF64E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11FBA-9745-47CF-AEB2-F1ABA0D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E3A66"/>
                </a:solidFill>
              </a:defRPr>
            </a:pPr>
            <a:r>
              <a:rPr sz="1875" b="1">
                <a:solidFill>
                  <a:srgbClr val="0E3A66"/>
                </a:solidFill>
              </a:rPr>
              <a:t>Спам — не только раздражение. Опасность возникает в момент, когда сообщение маскируется под срочность, выгоду или доверенный бренд.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33401-5C43-403C-8A9D-F31AB95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3333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8C9DD-A98E-433A-B66C-7289A826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D5230-5021-4C1D-9F63-7F43785C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C967F-7AFA-469B-9D88-69E1B57E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Сообщение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F5B7-7141-4EB2-9A5B-FEF8B37E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«Срочно», «вы выиграли», ссылка, сумма или просьба подтвердить 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C1A82-01EB-4A93-9D9F-979E161C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13F79-ACF4-4AEF-B2A1-F8FFEAAC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020DC-8AEC-4B67-903F-D78B7389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3333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43F6D-9197-4F02-9910-37C51C4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725EC-0FEF-4543-8922-C738A8A1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62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F566E-3162-47A1-BE9F-EF146E2A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Неопределённость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3D414-8157-48AF-9E89-31C2C97F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Пользователь не знает, что важнее: отправитель, формулировка, ссылка или контекст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34C89-C9E2-4914-A002-291591E0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EFEB9-5F30-4F66-B6CD-2AE36EC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D8461-C7D5-48E9-9DA9-966C089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EE758-434F-42AF-9F4C-ADA1BCC7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83140-6268-4D6F-8CE4-4F8B5A3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62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ADD0F-44C3-4EF4-AE57-0F8CD2B5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Действие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D3943-100F-4CA7-827F-E48BB392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Переход по ссылке, ответ, передача данных — либо осознанный отказ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61286-34B0-425E-BD61-E3EDA94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11239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B855B-441A-41C3-8C43-4416A3E1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Точка ценности SpamGuard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AD745-FD5C-4BA1-9E32-CAB6AA71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перевести неопределённость в измеримый риск и объяснить решение простым языком</a:t>
            </a:r>
          </a:p>
        </p:txBody>
      </p:sp>
    </p:spTree>
    <p:extLst>
      <p:ext uri="{BB962C8B-B14F-4D97-AF65-F5344CB8AC3E}">
        <p14:creationId xmlns:p14="http://schemas.microsoft.com/office/powerpoint/2010/main" val="1981443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0532C-E6A5-4C96-8EDE-3377FC1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CBEE8-31C1-4588-9997-4FD5079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Целевая аудитория: кому особенно не хватает уверенности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92D15-0C1A-4244-BF71-E3750604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8C454-1A7F-47DE-899B-8036E7B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2CBB5-3B06-4F7E-82D9-B7A0287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6858000" cy="4476750"/>
          </a:xfrm>
          <a:prstGeom xmlns:a="http://schemas.openxmlformats.org/drawingml/2006/main" prst="roundRect">
            <a:avLst>
              <a:gd name="adj" fmla="val 553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D02BE-A9AB-4D6C-A119-A5621A02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B9396-FD2E-4499-BA70-CD09DA8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ОСНОВНОЙ СЕГМЕНТ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5CE11-CD53-4E38-8565-F76EC48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Обычный пользователь смартфона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B4DF8-555C-4878-A198-ACB047C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23B52-AE40-4611-A0F1-5A1F3CF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8607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Получает SMS, письма и сообщения в мессенджерах; редко знает технические признаки фишинга; хочет проверить текст без регистрации.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40495-B72B-4336-A59D-063899BF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3545B"/>
                </a:solidFill>
              </a:defRPr>
            </a:pPr>
            <a:r>
              <a:rPr sz="1350" b="1">
                <a:solidFill>
                  <a:srgbClr val="E3545B"/>
                </a:solidFill>
              </a:rPr>
              <a:t>Боль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E2332-CAEC-4E02-81C1-366201BF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Страх пропустить важное сообщение и одновременно риск поверить мошеннику. Особенно чувствителен к ложным тревогам.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6B7F5-F1F0-4B1A-B212-FC96329A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9D78"/>
                </a:solidFill>
              </a:defRPr>
            </a:pPr>
            <a:r>
              <a:rPr sz="1350" b="1">
                <a:solidFill>
                  <a:srgbClr val="2D9D78"/>
                </a:solidFill>
              </a:rPr>
              <a:t>Критерии доверия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5AC52-4307-4C77-B762-75558F3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Понятное объяснение, приватность, быстрый ответ, возможность самому изменить чувствительность.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E0D00-9E12-4563-A244-D48EB4C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4000500" cy="20478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36A81-AE7C-492B-A01F-76B42E2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FE1A4-3EFA-4645-976D-8BAC05A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8592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Вторичный сегмент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43812-EF48-41CF-B9C0-0E758C3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35433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Модераторы, службы поддержки и небольшие команды: пакетная проверка сообщений, экспорт и первичная сортировка очереди.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445B5-F32D-41D0-BA5D-BAF4A075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4000500" cy="2162175"/>
          </a:xfrm>
          <a:prstGeom xmlns:a="http://schemas.openxmlformats.org/drawingml/2006/main" prst="roundRect">
            <a:avLst>
              <a:gd name="adj" fmla="val 8811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5D2EA-990D-497D-B832-F4406C1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B3D25-01DA-4F29-B828-D458FBC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Анти‑персона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9B6D8-5A8B-43BF-B7DD-D3E1869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67225"/>
            <a:ext cx="3543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Эксперт SOC или крупный банк: им нужны журналы событий, интеграции, SLA, аудит и отраслевые датасеты — вне масштаба текущего MVP.</a:t>
            </a:r>
          </a:p>
        </p:txBody>
      </p:sp>
    </p:spTree>
    <p:extLst>
      <p:ext uri="{BB962C8B-B14F-4D97-AF65-F5344CB8AC3E}">
        <p14:creationId xmlns:p14="http://schemas.microsoft.com/office/powerpoint/2010/main" val="1166140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6F580-CCD8-4FC4-9C03-07246F76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18CB2-8213-4BB8-865F-D23CA265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Проблема в терминах задачи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069FC-5055-40FF-AA24-4372CA3F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0133E-72CA-43AA-932A-18FEB950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87ED8-ACB4-46B9-B773-7C44A76B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D413-E61F-4BD0-BFA8-1E0D89F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«Когда я получаю сомнительное сообщение, я хочу быстро понять риск и его причины, чтобы не потерять важное и не попасться на обман.»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68230-2ADA-4D14-BB32-EE7BCEB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84AE4-891B-4122-8730-6D3EF0C8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FFFE8-1C24-4D6D-89EA-8ED034D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Получить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6FBB-0DAA-4998-8D7E-8937195C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3860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Сообщение приходит из неизвестного или знакомого канала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FADA2-E61A-41F3-BAAD-4129F66A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43250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2B45F-01AB-4F9C-8A0E-1A47328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907E4-94C3-4C56-A2A5-5B38CFBF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3B4B6-35CC-42FD-BEC0-22050F4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28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4BBAA-2FA9-4F76-A485-1E531BD5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385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Сомневаться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A15A5-F8BA-4949-B180-4C11F829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3860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Срочность и выгода конфликтуют со здравым смыслом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09CF8-E168-4F56-A03B-2B4AEF4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4A7B2-03A5-4478-BCA9-721237B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8E68F-226C-4B5E-8A74-42AE9B2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56C35-7430-4479-9A7C-9ABCF357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34592-04E0-45EC-927A-C3F3D551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Проверить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94471-9297-49A6-8483-849F292F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Скопировать текст и получить вероятность + признаки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0A2BB-D573-447A-81C3-9C24D1C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43250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A8F24-F6CC-46E7-822E-45B2355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B0A69-C214-4408-8FA8-FD83693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0A523-8300-4EDC-9267-6EBD4F5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28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4F62F-0C39-4162-9161-833F8ABA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Решить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A00D9-E017-419C-9615-963AEFB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3860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Не переходить, перепроверить отправителя или продолжить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C57B1-CC01-4DC5-87C2-D642B562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3545B"/>
                </a:solidFill>
              </a:defRPr>
            </a:pPr>
            <a:r>
              <a:rPr sz="1350" b="1">
                <a:solidFill>
                  <a:srgbClr val="E3545B"/>
                </a:solidFill>
              </a:rPr>
              <a:t>Ключевой барьер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CE556-1C8B-4D3B-AE6F-52B5BFD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67325"/>
            <a:ext cx="881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обычные фильтры скрывают решение; пользователю остаётся либо довериться «чёрному ящику», либо разбираться самому</a:t>
            </a:r>
          </a:p>
        </p:txBody>
      </p:sp>
    </p:spTree>
    <p:extLst>
      <p:ext uri="{BB962C8B-B14F-4D97-AF65-F5344CB8AC3E}">
        <p14:creationId xmlns:p14="http://schemas.microsoft.com/office/powerpoint/2010/main" val="1438573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0647E9-2CB0-4FB8-90F0-BFF2FE25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4EC53-F368-4E23-B50F-EEABDA9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Конкуренты: рынок решает блокировку, но редко объясняет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EE29F-7DE6-44F0-9612-DFF4F65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D226-9DF4-4B42-8AD5-05E0560F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3EAA2-0FED-45F7-BEA1-6DA339F8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113C0-9018-457C-9A07-D42FC2C5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2F16F-B386-47D1-A3ED-DF1D7D10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811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C16B3-DC4B-4B7C-9311-B9A2FCF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573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Каналы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1F3AE-EBEC-4755-AE68-506F6985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5811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25EFB-4737-499C-8CCC-4D2E082E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573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Объяснение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4A442-ACFB-47A1-8B4F-2E340825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F468D-4A70-4D81-9EC0-F125A61D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Обработка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91F41-0E19-409D-A9D8-618080F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811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A73FB-A599-42EA-A6BF-E873B7F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Цена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68111-FC1E-4AC0-B478-8B9E4E1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DF5F8-D94D-4756-AD2F-D08985E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Ограничение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37E07-5D83-4047-8F80-7C41F22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A06EE-400D-4B93-8CDA-B14BA38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Google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FE241-AF00-4087-B6AE-C0C9C34F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336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FF3B6-64AB-449E-B9EE-76C5E6B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098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SMS / RCS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B037E-8196-4E4E-A221-E54132B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3360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00FEF-91D2-4358-82AD-15249CF2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2098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Нет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9C31F-09FE-4BBF-A3F5-4BAAD35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33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8F10C-F565-4AC2-9DBE-A0C673C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На устройстве + сервис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FF960-ACDB-4E5B-82BE-4C088C88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ADEF4-94EE-4750-A82D-387A6E8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Включено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AC053-39E8-449B-9F42-6F6EE47D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435AD-FAA2-4233-B921-E3363A34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Только экосистема Android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75282-3C25-44C1-AF59-C7D5E785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8BE13-A75E-4902-A611-7F72C91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Apple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07343-CF19-44F7-9459-87A4380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F354D-0504-47A0-954F-E1E4F86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SMS / iMessage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0DECB5-48AC-4D56-817D-B74C133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5750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4CEA9-95C5-469F-A6C0-926D4139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33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Нет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5EE7FB-51A6-40D8-B559-5263534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ECBD64-03BC-4FE0-8D19-3D7E27C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Системный фильтр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B85FF-3850-4AAA-9730-FD02930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0F66D8-5FDC-411C-BEEC-0112ACBD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Включено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CBCE5F-AE2D-46F8-93D6-F332A57D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C2E18B-453E-40A3-A496-ED6586D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3370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Только экосистема Apple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4D0F6D-59B9-40ED-8317-1DCB09B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1EC247-9900-430B-9853-679BCCAE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Truecaller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670AFE-F0D0-4E8E-A1EF-1483CA4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814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8E168F-1DC8-47D7-81A1-0FC0DA2B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576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Звонки / SMS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837777-3781-4A91-BB65-9A85A1EC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8140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FCDB91-65C7-4400-9438-C12D101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Нет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59E65F-E5C0-4383-A8EB-BBCB3A9C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AD23B5-C07E-45A3-ACAE-03206EA4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Сервис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18D531-D629-44F6-BEE0-4F96E90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60A908-7BDB-4CD7-BB81-0A7C26C7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$74,99/год*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899BC2-A6BE-4ECB-9D55-83164567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8140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A75399-B721-4395-99C6-8656231E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Коммерческий, без объяснения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BDB159-BA47-4476-8119-142D72F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053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796249-32ED-4662-8EB9-6620CE6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Kaspersky Who Calls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061BB0-CB4A-46EE-88A9-5ACB775C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053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BCC838-B9AF-4E54-8594-5A803EE6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815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Звонки / SMS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FD8A98-CBE7-4DC6-BB47-85A8FCD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0530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533441-BFF1-4DA3-9236-78989101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815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Угроза / ссылка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FF4D4D-942E-4129-BF35-F8A75DD2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053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D9DC30-9F91-4DE5-9BBD-504C03DF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Гибрид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22A533-0E4E-4F36-9F33-F2AEC1E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20AA6B-56C8-4C9D-AD9B-34878F92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Free + подписка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8DC059-945E-46C0-BBA8-29CD0057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1EB9E8-33E7-4606-8303-37A9B394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8150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Фокус на номерах и фишинге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59A868-FB2A-4338-9030-3FB78AD4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E34692-C2EF-45FD-9501-7B8F0EED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SpamGuard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2EC7C7-BB86-4E51-B140-EBC0BE2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292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EC9EFC-ED4C-45B8-A1FF-0782449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054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SMS / email / chat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2A87F4-2475-466A-83F0-CF4B1C62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02920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AE493C-A957-4F8D-BB85-D29A357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054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Риск + признаки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1D368A-867E-4CB5-A550-3E13BD6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292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3F9E5A-671B-44C0-A684-6C1E36A6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054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Локально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DD2CA3-BA67-434F-87E0-2D52700B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E4FADC-779F-4D67-B5D8-093D1C2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054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Бесплатный MVP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A978FE-A5B9-4747-9B6D-5ACC4CF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40599A-5C26-4739-A564-60340F20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05400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Не production; ES — demo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EC6CAD-9D3E-46DD-9D1D-56F4AF9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F96A3"/>
                </a:solidFill>
              </a:defRPr>
            </a:pPr>
            <a:r>
              <a:rPr sz="1050" b="0">
                <a:solidFill>
                  <a:srgbClr val="8F96A3"/>
                </a:solidFill>
              </a:rPr>
              <a:t>*Цена Truecaller Premium на странице сервиса; локальные цены и планы могут отличаться.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CD5A4C-D646-4C8C-9F84-4B75868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293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3A66"/>
                </a:solidFill>
              </a:defRPr>
            </a:pPr>
            <a:r>
              <a:rPr sz="1275" b="1">
                <a:solidFill>
                  <a:srgbClr val="0E3A66"/>
                </a:solidFill>
              </a:rPr>
              <a:t>Вывод: ниша SpamGuard — не фоновая блокировка, а самостоятельная понятная проверка текста из любого канала.</a:t>
            </a:r>
          </a:p>
        </p:txBody>
      </p:sp>
    </p:spTree>
    <p:extLst>
      <p:ext uri="{BB962C8B-B14F-4D97-AF65-F5344CB8AC3E}">
        <p14:creationId xmlns:p14="http://schemas.microsoft.com/office/powerpoint/2010/main" val="1762130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42556-509E-4729-956D-3B410AFD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A0530-98D5-4655-834E-218F286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Позиционирование: прозрачный второй взгляд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1AF82-72C9-4992-B638-0F3D067C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954BF-4425-47A1-8B01-3632F66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15FA6-48BC-4F5E-9BD9-C83E1B0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E3A66"/>
                </a:solidFill>
              </a:defRPr>
            </a:pPr>
            <a:r>
              <a:rPr sz="1875" b="1">
                <a:solidFill>
                  <a:srgbClr val="0E3A66"/>
                </a:solidFill>
              </a:rPr>
              <a:t>SpamGuard не заменяет встроенный антиспам. Он закрывает момент сомнения, когда пользователь уже видит сообщение и хочет понять его.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E565-2649-4CBD-9DB0-64757A20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480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A0294-8138-4F1C-B18C-E30594BC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SpamGuard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335C0-B263-4099-A9D7-EE983E4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локальная проверка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из любого канала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5DBD3-94E8-4AEC-AFD2-7191738D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481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вероятность + причины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B0AE3-351A-47B8-A97F-61C633BD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EFEE4-9BC2-4B0C-8611-11AE53D3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F3006-A44D-4AB8-A6A0-AB3D564F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Кросс‑канально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7B228-C390-44AA-BB01-79D9A50C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SMS, письмо или сообщение — достаточно текста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89D67-AC40-41E5-94B6-DDFE39C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8C9F8-7F61-470A-84EE-6E6BAA3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F4FE0-FE6B-4475-BE4E-1EB2AF1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Объяснимо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20D7C-9F41-4012-A19C-9958D726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Показывает слова и структурные сигналы риска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7C639-DC9C-4F22-8D9E-339F21E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EFF82-7C1A-4D85-8E65-6881485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D1339-E486-4796-8B91-C64CC08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Приватно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1AD19-6A7D-4650-A8A3-B273B0F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Текст остаётся на локальном компьютере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B34BB-F696-459C-864D-93462A2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A0B7C-CFDA-4C37-8BE8-1172DD07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05325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7F283-1EDE-4946-BC7D-8FCEB1AF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Управляемо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A1A33-F17D-47BE-8EB3-D6BE83B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62525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Порог чувствительности выбирает пользователь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854792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F04146-BD14-4D98-A73E-079ADC9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66AEA-416C-472B-BCDE-501B169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Концепция продукта и роль машинного обучения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59B59-6154-49F3-BF09-E437869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BCAE-1CBF-4848-BA89-EB2C32A4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F6D1E-3D9D-4417-A630-D8F68B5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65B64-9959-4FD7-B73D-1F6073A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Гипотеза ценности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4C722-96EC-46AE-B3EB-96A8A553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3830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E3A66"/>
                </a:solidFill>
              </a:defRPr>
            </a:pPr>
            <a:r>
              <a:rPr sz="1650" b="1">
                <a:solidFill>
                  <a:srgbClr val="0E3A66"/>
                </a:solidFill>
              </a:rPr>
              <a:t>если дать вероятность, объяснение и следующий безопасный шаг, пользователь быстрее примет решение и реже будет действовать вслепую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C1D69-5745-41E9-A757-5144CEE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952625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7CE00-66E9-43AD-B5EF-A15F2164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17241-6952-44BE-9813-995E2920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Вход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F75D-2258-4E01-B87C-75C8BE0F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Текст сообщения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BCB47-DF11-427A-A0DE-BD52CA4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195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6E603-3EAA-4F2E-BB1E-B10ADCC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816A2-11E7-4B1F-8C28-04D548D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1952625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C4170-68D3-4BA1-98B0-1E798A1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38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0A282-A38D-4E42-832E-3B03638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BF62A-7B17-42BA-B58B-A6C9E1A5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0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Вероятность spam / ham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86B88-01DA-41A3-A4F6-D36FF559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95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DFE86-E119-4066-8F08-526CE30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4DE52-DA2B-4B34-BDA2-497F78A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1952625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CB9AC-7F59-4227-9194-5D427754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8BFC1-90D4-4C34-BEC8-A6C6C838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Объяснение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87054-08FD-4F64-8104-BC82D3C8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Слова + сигналы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16DD7-7CBA-4D0C-9B5F-6CD6852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195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B0E3A-3C68-48B1-9C3A-C3034FC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0E541-C351-42A3-B7B1-CBE02A7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67050"/>
            <a:ext cx="1952625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D139C-D3ED-439E-995A-7205C92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17A61-7662-44AC-AED2-D1B0442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Контроль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358CC-319C-4779-B0CD-F5E69AE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Порог 0,20–0,80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861E4-8D5B-4B31-904E-C380FCCE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195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68A53-0D4D-404E-A3AC-DCD1C97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359B5-38E0-43AD-8C2B-D46F6CC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67050"/>
            <a:ext cx="1952625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81F7F-FDC1-47F1-A026-BF7AE85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5C61C5-0DB2-47A3-A1CC-15BF090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Результат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E7B59-B78F-48AC-BADF-BA58925C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Безопасное действие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462E7E-222F-43EC-B603-FF194535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Что даёт ML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5F4E6D-3E00-4272-AB95-4F7BB85D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обобщает тысячи примеров и выдаёт непрерывный риск, а не набор жёстких правил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03C8E5-3767-40E9-9B34-4E5080F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96A3"/>
                </a:solidFill>
              </a:defRPr>
            </a:pPr>
            <a:r>
              <a:rPr sz="1200" b="0">
                <a:solidFill>
                  <a:srgbClr val="8F96A3"/>
                </a:solidFill>
              </a:rPr>
              <a:t>Ограничение: объяснение показывает коррелирующие признаки модели, а не доказательство мошенничества.</a:t>
            </a:r>
          </a:p>
        </p:txBody>
      </p:sp>
    </p:spTree>
    <p:extLst>
      <p:ext uri="{BB962C8B-B14F-4D97-AF65-F5344CB8AC3E}">
        <p14:creationId xmlns:p14="http://schemas.microsoft.com/office/powerpoint/2010/main" val="1842008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293E5-3FEA-4B3E-9297-D2DD5A2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225D6-929B-4447-83F5-4E7679FB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Три пользовательских сценария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ED19A-307D-4F0F-92CF-CE4137D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BA327-C36F-499D-BE30-99959CA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1D9F8-760D-4AC9-9AA5-C3085A6E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1239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399F0-DDF8-4DA0-9A6D-24B13FE2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47855-7C68-45D7-83CF-9EFFB8D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Разовая 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0F1B3-F125-4E98-A761-B619DF2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Главный 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D5919-7222-4C2D-91E9-68EA258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Вставить одно сообщение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19F0B-1A38-476C-B59E-1F7FF46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CEBE5-9940-4B09-926A-09777594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Получить риск, класс, язык и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A5F7C-13FB-454B-8758-426F34B2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86100"/>
            <a:ext cx="11239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DA682-A1DA-41C4-BBDB-4D184C5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D9D78"/>
                </a:solidFill>
              </a:defRPr>
            </a:pPr>
            <a:r>
              <a:rPr sz="2400" b="1">
                <a:solidFill>
                  <a:srgbClr val="2D9D7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C330B-8105-4553-9C8B-4146DABA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Пакетная обработка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2F6FB-94E0-465D-8EAA-5F4EBF4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9D78"/>
                </a:solidFill>
              </a:defRPr>
            </a:pPr>
            <a:r>
              <a:rPr sz="1125" b="1">
                <a:solidFill>
                  <a:srgbClr val="2D9D78"/>
                </a:solidFill>
              </a:rPr>
              <a:t>Для команд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3BE9A-F760-4107-9174-6685E0E5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Загрузить CSV или TXT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3B9DB-679A-4745-933B-4306A6D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575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D9D78"/>
                </a:solidFill>
              </a:defRPr>
            </a:pPr>
            <a:r>
              <a:rPr sz="2100" b="1">
                <a:solidFill>
                  <a:srgbClr val="2D9D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B2262-A56C-49D7-9390-0F564C9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Проверить до 1 000 строк и скачать результат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BA113-80F1-4C5A-96E8-184B0EED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11239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E43C4-1557-4AAB-864A-8FED71A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E59A2F"/>
                </a:solidFill>
              </a:defRPr>
            </a:pPr>
            <a:r>
              <a:rPr sz="2400" b="1">
                <a:solidFill>
                  <a:srgbClr val="E59A2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9B33B-7C55-4CA9-AFCC-C9ECF97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Аналитика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45E08-EE29-46F7-8727-D04F4D11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9A2F"/>
                </a:solidFill>
              </a:defRPr>
            </a:pPr>
            <a:r>
              <a:rPr sz="1125" b="1">
                <a:solidFill>
                  <a:srgbClr val="E59A2F"/>
                </a:solidFill>
              </a:rPr>
              <a:t>Для преподавателя / аналитика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C6096-5A78-4CF6-97E8-1A14C1AC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Открыть методологию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FC659-38F2-4516-9CB7-C42BEE3E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62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59A2F"/>
                </a:solidFill>
              </a:defRPr>
            </a:pPr>
            <a:r>
              <a:rPr sz="2100" b="1">
                <a:solidFill>
                  <a:srgbClr val="E59A2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74968-0079-41EC-AE4D-19EE08D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Сравнить метрики, языки и матрицу ошибок</a:t>
            </a:r>
          </a:p>
        </p:txBody>
      </p:sp>
    </p:spTree>
    <p:extLst>
      <p:ext uri="{BB962C8B-B14F-4D97-AF65-F5344CB8AC3E}">
        <p14:creationId xmlns:p14="http://schemas.microsoft.com/office/powerpoint/2010/main" val="170710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D8BD0-0602-41BF-92B9-DBCE78D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41B8D-2AFA-4476-949C-8BEA770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MVP: один экран — одно понятное действие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96BE3-D035-407A-AA25-70DB9CAD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BB9C0-14A5-4359-BD9A-E6F7780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41F3A-9426-431F-AE4D-D08995F4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010400" cy="47053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a8d4044894508"/>
          <a:srcRect xmlns:a="http://schemas.openxmlformats.org/drawingml/2006/main" l="0" t="15882" r="0" b="15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85900"/>
            <a:ext cx="6858000" cy="4552950"/>
          </a:xfrm>
          <a:prstGeom xmlns:a="http://schemas.openxmlformats.org/drawingml/2006/main" prst="roundRect">
            <a:avLst>
              <a:gd name="adj" fmla="val 334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934C2-DF6B-4C3B-B33E-3401C8C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Что уже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5DA75-8A65-4588-A4AE-9E1A47C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1125B-49CA-426E-9738-E9FB5C41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72263-D403-483C-834B-512FD413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717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Выбор языка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8F5E9-763D-49BF-8A11-B465C19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146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Русский, английский или испанский интерфейс.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54401-D34D-4903-B9CD-62B7E68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4AC82-7AC2-422E-8459-A7E303F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38B0A-D007-4187-8044-287CE0D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Ввод текста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813F6-07EB-4D38-8815-344C7533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814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Пример можно вставить вручную или взять из шаблона.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F5765-131D-4CDD-AC53-B00DBE3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4FC7-219D-4412-9073-E636A7A2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00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27273-3C93-4F98-9CB6-4AAFC7FE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053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Чувствительность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2839F-E253-42F4-9D25-6A9C4188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482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Порог меняется без переобучения модели.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BA7DF-77BC-4E8E-B440-7D549DC9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67350"/>
            <a:ext cx="3429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D600A-39E2-4129-8BFE-F5669481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292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Локально: текст не уходит во внешний API</a:t>
            </a:r>
          </a:p>
        </p:txBody>
      </p:sp>
    </p:spTree>
    <p:extLst>
      <p:ext uri="{BB962C8B-B14F-4D97-AF65-F5344CB8AC3E}">
        <p14:creationId xmlns:p14="http://schemas.microsoft.com/office/powerpoint/2010/main" val="646393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DD7C8-B064-4016-8017-AE7B3D0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B961-65BE-4BA0-B61D-0C9BB51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Результат не просто «спам / не спам», а объяснение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605D1-37C5-4EF4-BB4B-72BDCEE6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EE75F-FCBB-41AF-A839-D0F7530D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4BCCB-459F-4FC2-B7F8-F322E818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Пользователь получает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44EF-78B2-4B1A-AD04-0D574C7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45243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5A811-5A5B-4545-A9A7-899883D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6DD80-8AE4-49B7-8588-512D7ED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93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1. Вероятность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994E8-6496-49F9-B73D-1CEC5C86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Непрерывная оценка риска, чтобы видеть уверенность модели.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831FB-16F1-4420-B7A0-7BFAE2E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45243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10634-D92D-4427-94A5-77325D04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8863D-D0D1-43E9-9585-6DE5FD59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93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2. Причины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C2B0A-B819-43CC-BAE9-11E58E38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Важные слова и сигналы: ссылка, сумма, срочность, награда, восклицания.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87A3D-3BB9-4103-A22D-86A8DE9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45243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8D8F1-4C79-49F9-B0C4-88058C2B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B6C15-1BDD-4616-B087-1EBC21A2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393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3. Следующий шаг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B84F4-24E0-4B1D-83BD-850A3AD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Не считать прогноз доказательством: перепроверить отправителя и не передавать данные.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1AC97-44A5-417A-9007-9528F7DB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09700"/>
            <a:ext cx="5772150" cy="4705350"/>
          </a:xfrm>
          <a:prstGeom xmlns:a="http://schemas.openxmlformats.org/drawingml/2006/main" prst="roundRect">
            <a:avLst>
              <a:gd name="adj" fmla="val 4858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537d7b48e460d"/>
          <a:srcRect xmlns:a="http://schemas.openxmlformats.org/drawingml/2006/main" l="0" t="8365" r="0" b="8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485900"/>
            <a:ext cx="5619750" cy="4552950"/>
          </a:xfrm>
          <a:prstGeom xmlns:a="http://schemas.openxmlformats.org/drawingml/2006/main" prst="roundRect">
            <a:avLst>
              <a:gd name="adj" fmla="val 334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9E573-357A-46D7-9790-594FFD93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2573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87A96-00FD-4855-B90B-C806F7C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764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4B031-D706-4CCD-8F56-DAECFAE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955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ТЕКУЩИЙ РИСК</a:t>
            </a:r>
          </a:p>
        </p:txBody>
      </p:sp>
    </p:spTree>
    <p:extLst>
      <p:ext uri="{BB962C8B-B14F-4D97-AF65-F5344CB8AC3E}">
        <p14:creationId xmlns:p14="http://schemas.microsoft.com/office/powerpoint/2010/main" val="488949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436C5-2212-460C-A08B-51C54E9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C4B27-E265-4D0E-B90F-8C9F908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Данные: два открытых корпуса + испанский demo‑блок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05E1E-5BF9-4CF0-9DBA-3728AC86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BFDCB-3CAC-4057-8E88-D2829C69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1FFE3-1515-4D63-BCE2-8292E32C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3429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C73D-71BD-4D3F-80A6-64563F4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BF5E5-88EA-4B90-AE22-8D8059F0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English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0519A-F3B2-4A35-B95F-C10837A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UCI SMS Spam Collection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5 157 строк после очистки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реальные SMS, ham / spam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FA276-885B-40E7-85CB-2DCBC3C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D5385-5C13-4D9D-9C49-064B2EA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C1311-452E-4F9C-89CE-4FA5BF7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8592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Русский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5D7DA-1F07-4CF4-B248-E22EC18C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DmitryKRX/anti_spam_ru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фиксированная выборка 20 000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из корпуса 66 119 строк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A593E-3D78-49B1-A8F5-F26EFD0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429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55AD2-526F-49C0-BAB0-473A284A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320E5-19B3-44EA-A9A8-9A0E61F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8592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Español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4CC97-10F5-4393-9A50-DBD8070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87 синтетических примеров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только демонстрация интерфейса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не production‑валидация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18982-E9FC-4EB4-88C0-62E09B0B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981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8A106-92C9-4795-9E96-1AE7246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1E288-E533-4251-8309-EC502DE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Unicode‑нормализация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84245-DD36-4143-9A0B-6122CAD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71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CDD5"/>
                </a:solidFill>
              </a:defRPr>
            </a:pPr>
            <a:r>
              <a:rPr sz="1650" b="1">
                <a:solidFill>
                  <a:srgbClr val="C8CDD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35A5C-109C-4654-AB47-C09D3C3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81425"/>
            <a:ext cx="1981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489EA-863B-43F1-8421-E303DE2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24627-5754-41AC-AD4E-FDFEAEB9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57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Удаление дубликатов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0E9C2-20DA-41A0-9978-956F0D6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71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CDD5"/>
                </a:solidFill>
              </a:defRPr>
            </a:pPr>
            <a:r>
              <a:rPr sz="1650" b="1">
                <a:solidFill>
                  <a:srgbClr val="C8CDD5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35BEF-F136-4D43-B033-137D4EA9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81425"/>
            <a:ext cx="1981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74529-719D-42DD-8694-7336C4B0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9E8CC-C502-418D-A7BE-5DC1B069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Стратификация language × label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0DE2B-9BC4-4E9C-B30B-6D22865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71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CDD5"/>
                </a:solidFill>
              </a:defRPr>
            </a:pPr>
            <a:r>
              <a:rPr sz="1650" b="1">
                <a:solidFill>
                  <a:srgbClr val="C8CDD5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90421-6E51-4E47-B4DD-C6192BE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81425"/>
            <a:ext cx="1981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F6A15-AC24-40C7-A3FE-82F7811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9933B-BC43-41CB-974B-FFCDCC7E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57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Train 80% / Test 20%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68524F-604C-489E-90CC-B9FE52DE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71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CDD5"/>
                </a:solidFill>
              </a:defRPr>
            </a:pPr>
            <a:r>
              <a:rPr sz="1650" b="1">
                <a:solidFill>
                  <a:srgbClr val="C8CDD5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2C932-1242-4F02-BEB2-D7C66B43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81425"/>
            <a:ext cx="1981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0FAD2F-4275-4782-AB88-D7E239D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5DDA71-8856-4C19-8E4B-3436141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57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Фиксация random_state = 42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D7AEC-7E50-4287-89D9-96D18F7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11239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2C68E-2934-4D2A-AF21-5D7D9665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3545B"/>
                </a:solidFill>
              </a:defRPr>
            </a:pPr>
            <a:r>
              <a:rPr sz="1350" b="1">
                <a:solidFill>
                  <a:srgbClr val="E3545B"/>
                </a:solidFill>
              </a:rPr>
              <a:t>Почему дедупликация до split важна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AC5626-9D54-4457-8813-C1607CF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768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одинаковое сообщение не должно попасть и в обучение, и в тест — иначе метрики будут завышены</a:t>
            </a:r>
          </a:p>
        </p:txBody>
      </p:sp>
    </p:spTree>
    <p:extLst>
      <p:ext uri="{BB962C8B-B14F-4D97-AF65-F5344CB8AC3E}">
        <p14:creationId xmlns:p14="http://schemas.microsoft.com/office/powerpoint/2010/main" val="381686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CB325-747D-4DAA-9017-3205044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EF397-B4C3-427E-82AF-071972B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Состав рабочего датасета после дедупликации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3C7CD-40F5-4568-AD06-C01E649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3871B-5338-4541-B28C-46CC270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13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28625" y="1571625"/>
          <a:ext xmlns:a="http://schemas.openxmlformats.org/drawingml/2006/main" cx="7096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d7c0fa0ea40d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18D5D-7425-4993-BBC3-597922C9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24 838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DF738-E7C2-4CC8-BD6C-2F8CFC6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2"/>
                </a:solidFill>
              </a:defRPr>
            </a:pPr>
            <a:r>
              <a:rPr sz="1350" b="0">
                <a:solidFill>
                  <a:srgbClr val="5E6572"/>
                </a:solidFill>
              </a:rPr>
              <a:t>уникальных сообщений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6A49-CAF7-4209-B566-A041616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B1C40-7C77-473C-A1E8-80C69795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11AFD-978C-48B3-8D9B-85D3A41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Сильная сторона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17107-49FC-49C2-8B21-E1453FD3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67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Русский корпус достаточно велик для учебной модели.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1A072-4742-497D-920E-29908DC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333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DB88C-01E1-4A68-9626-231240B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0BC17-81A7-4B3B-AD88-416C62C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7672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Риск смещения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FB137-D39D-44B1-A1FB-5A7C00E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Языки и классы несбалансированы; испанский блок слишком мал и синтетичен.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A4F7D-71A9-4D22-AE7C-71F1FCF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86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3A66"/>
                </a:solidFill>
              </a:defRPr>
            </a:pPr>
            <a:r>
              <a:rPr sz="1425" b="1">
                <a:solidFill>
                  <a:srgbClr val="0E3A66"/>
                </a:solidFill>
              </a:rPr>
              <a:t>Следствие: общую F1 нельзя считать гарантией одинакового качества для всех языков.</a:t>
            </a:r>
          </a:p>
        </p:txBody>
      </p:sp>
    </p:spTree>
    <p:extLst>
      <p:ext uri="{BB962C8B-B14F-4D97-AF65-F5344CB8AC3E}">
        <p14:creationId xmlns:p14="http://schemas.microsoft.com/office/powerpoint/2010/main" val="14782987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CD434D-6769-4C3D-8113-A2333D8E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983B-17A3-4346-B1F8-9892957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ML‑пайплайн: простая модель, обоснованные признаки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E44F-3E57-49BD-8D89-E8B98810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93AAC-CEF6-4730-82EF-AE2D6D76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C6CFB-B91A-4167-A49C-AC3CFBD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2047875" cy="2286000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BE6B1-46A0-40C8-BF02-E1B216C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2DD2-FC81-4594-B8A8-5349EE39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3B0AC-20B9-46E7-B547-12E0C67A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52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Unicode‑нормализация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без ручного перевода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8B9F8-313D-42E0-B301-9EBEE88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12708-1F67-41BA-A68A-1C69BDE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780E3-BF4F-4EDC-A47C-E428A06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2047875" cy="2286000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04A48-E315-48CE-9666-988AA8C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3149-80CF-4C5F-94B4-02D3FED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Word TF‑IDF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40C44-86C0-4142-BC8B-DE629FF4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1–2‑граммы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до 18 000 признаков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3656A-1D01-41D4-8BB7-103815E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4800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FBD8A-DCCC-4CFE-945A-7B16CAE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C79FD-D0E6-4126-B890-0FF1742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52625"/>
            <a:ext cx="2047875" cy="2286000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21D19-A07D-4AAC-A863-295B122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38E77-7FAD-4950-9B1D-F4C14F11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09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Char TF‑IDF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87A66-CC7E-4C7F-ADFA-C20A01C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52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3–5‑граммы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до 18 000 признаков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480E8-7CB5-433B-9272-193DCD61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35F2B-9A7A-45F8-998F-76145A78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0D2EA-18BF-48CA-9AE6-4289005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2047875" cy="2286000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F89BB-E819-4EDD-9074-AA2CE45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75738-9599-4225-A898-29B54180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Logistic Regression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E1848-9361-4595-8462-8D433DF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52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class_weight=balanced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solver=liblinear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F69D1-A575-45AF-BFBE-46111FF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04800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38E4F-0D07-4E24-94EC-883623C7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4E8D4-9808-4106-B8EC-523E496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047875" cy="2286000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0BB27-82D0-4EB0-942B-4D351189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4E432-DDCA-4819-ABD9-D0779D4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09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Риск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D6DDCE-6B77-415D-BA58-6770171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52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P(spam) + threshold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класс и объяснение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E7383-7888-417F-8241-F25E2BA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5286375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1157C2-C9F5-45DE-8B2C-69B43635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F9E528-2CD9-4218-B6EE-171E7646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469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Почему word + char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7F4DFF-346A-4303-A6B9-1801660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4829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Слова ловят смысловые маркеры; символьные n‑граммы устойчивее к опечаткам, формам слов и нескольким языкам.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2EC909-C366-4DDB-A5D5-DBFBF8FD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19650"/>
            <a:ext cx="5762625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70FD5C-7BD6-499A-8E80-246F39FA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991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FF562A-A70C-49D1-B6DA-147933F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81575"/>
            <a:ext cx="517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Почему Logistic Regression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76AC4E-AA78-43A8-81D0-38D2D355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48300"/>
            <a:ext cx="5305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Быстро обучается на разреженных признаках, выдаёт вероятность и подходит для воспроизводимого учебного MVP.</a:t>
            </a:r>
          </a:p>
        </p:txBody>
      </p:sp>
    </p:spTree>
    <p:extLst>
      <p:ext uri="{BB962C8B-B14F-4D97-AF65-F5344CB8AC3E}">
        <p14:creationId xmlns:p14="http://schemas.microsoft.com/office/powerpoint/2010/main" val="19056641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176C26-EA71-4D07-9E44-98ED53C3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DA70C-24FD-4D59-B45A-88F56758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Технологии и ресурсный план: MVP укладывается в 4 часа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BC13E-2465-4A5F-8626-BE8688B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072D6-FF9B-4AB9-AF46-7FE54979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C1775-F965-4A95-9518-908E7016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Архитектура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237C6-1973-42B4-A26B-FE16E667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4476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55767-1C21-4A99-8199-AE4B558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Streamlit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88070-F1E6-4D1C-80CC-16616FAC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19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веб‑интерфейс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23C4A-D3EA-425B-978F-D5FE902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4476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DD555-7008-40AB-A9FD-1B4A8BBD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pandas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05E1E-B9EE-4AE2-8D64-B5743233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подготовка данных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CB9F5-AE3D-4D8A-8AE3-7F3F148B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4476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7B3A6-D910-455B-BBA1-0C2C081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scikit‑learn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8CE3F-5CF3-4482-834F-14673DF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95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TF‑IDF + 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64DE4-6BAA-426A-B93C-B956DF0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4476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3C5CD-5B22-4F8D-8D7B-C6A16EE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локальный CPU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DF9D7-A61E-4729-AC91-4E6A6836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33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без GPU и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E4ECC-72F6-4EB7-B08A-17B24573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План 0:00–4:00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3141C-4767-49FE-BD3C-EAD0F70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031A6-9A0D-47A0-A472-F64C6AD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0:00–0:40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AB94A-9219-4B2C-BB19-5F8A9D55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данные + концепция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821D4-7BBC-4397-95CE-86984D4D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860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F4409-D9E4-4715-A61F-8DCDADEB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71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5076B-DFDD-429D-8AB1-78A3464D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52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0:40–1:35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B359D-F684-4AE0-8FA8-02FF91D8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52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обучение и метрики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1C2C6-8C93-4EFB-9339-25C9410E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00375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B8442-494D-4820-8327-118491B0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86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E3899-098A-4B4C-88B3-62722CD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1:35–2:50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16983-E8BB-498A-96D2-4778E13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интерфейс и сценарии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98126-87BA-4C45-836F-8DD31A89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147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590A8-82DF-4839-88FF-5CFACF0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0101C-E35B-4AD0-A967-A16AAF23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81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2:50–3:20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67DAA-E8A1-49EE-9A03-EB32D62B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814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тесты и исправления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EB5BF8-1564-450C-9F1D-AA5C4322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29125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B7C598-8E3E-4E8D-8440-0C0F8FF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5A8C2-217C-4744-B584-1A1FAB9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3:20–4:00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65082C-F216-4DA2-BE58-1E3690D4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95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документация и презентация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776A6A-A1A1-4463-BE83-2B6994B2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15000"/>
            <a:ext cx="5619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38E1E3-5262-4EFE-8100-20E115AA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D9D78"/>
                </a:solidFill>
              </a:defRPr>
            </a:pPr>
            <a:r>
              <a:rPr sz="1200" b="1">
                <a:solidFill>
                  <a:srgbClr val="2D9D78"/>
                </a:solidFill>
              </a:rPr>
              <a:t>1 разработчик • 8 ГБ RAM • CPU • обучение 23–26 с • без платных API</a:t>
            </a:r>
          </a:p>
        </p:txBody>
      </p:sp>
    </p:spTree>
    <p:extLst>
      <p:ext uri="{BB962C8B-B14F-4D97-AF65-F5344CB8AC3E}">
        <p14:creationId xmlns:p14="http://schemas.microsoft.com/office/powerpoint/2010/main" val="1959394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2B7B5-9256-48DD-86A9-62A2C8E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C3CD-CFE7-4849-A62A-503B2C91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Методология оценки качества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A481E-6028-4A89-A9A3-2A627306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77E6A-DD00-450B-8BB3-18AF212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A38DF-256B-405A-A1AC-A71BE0E9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E7787-CF6E-49C3-9E72-75ABD0B4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24 838 уникальных сообщений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9BF64-7168-469D-9022-1B5AD35B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→ train 19 870 (80%)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DA883-6893-4EB7-BD97-9186F416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→ test 4 968 (20%)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A5691-4FAB-4800-BD79-39A4927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stratify: язык × класс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2A046-AD57-49D4-BC33-4627B6C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2571750" cy="201930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657EE-5FAF-4C9C-AA99-1B4C3279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B694D-B607-451A-A937-BF0DC9B8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доля всех верных ответов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D0D75-6D0F-49ED-BF1C-3899FFA2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удобна как общий обзор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C909B-8B62-480E-BE6E-C08A8582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43200"/>
            <a:ext cx="2571750" cy="201930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17DBF-DC0C-44C1-8E5D-B5147CC8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B51B6-8C44-46C5-84BA-28B696E8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TP / (TP + FP)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D80CC-EF5E-4055-A7B6-12AF864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насколько можно доверять метке «спам»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81109-4008-4904-A6E2-018971F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571750" cy="201930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FA48A-606E-42FB-9F3B-FD8A333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F1835-7BF9-409A-AB00-94A3B03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TP / (TP + FN)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DBF9F-248C-4997-9FE2-CBD5D527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какую долю реального спама мы нашли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C6874-4CF4-4A20-B13B-7AEF477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43200"/>
            <a:ext cx="2571750" cy="201930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12192-9165-44A8-89D8-77AC623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67E01-9460-4AA3-8EB1-B72267E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2PR / (P + R)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CE701-908F-4A38-B82B-7A11E52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баланс Precision и 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A93F8-5533-4160-9D24-E1F59DA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00650"/>
            <a:ext cx="112395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61437-55EE-4CB0-BCC9-C49B411B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E471B-261B-4169-A385-659D98F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Главные метрики для продукта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85190-29CF-48DB-88E8-566DCBE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244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3A66"/>
                </a:solidFill>
              </a:defRPr>
            </a:pPr>
            <a:r>
              <a:rPr sz="1275" b="1">
                <a:solidFill>
                  <a:srgbClr val="0E3A66"/>
                </a:solidFill>
              </a:rPr>
              <a:t>Recall снижает риск пропустить спам; Precision сдерживает ложные тревоги. F1 показывает их совместный баланс.</a:t>
            </a:r>
          </a:p>
        </p:txBody>
      </p:sp>
    </p:spTree>
    <p:extLst>
      <p:ext uri="{BB962C8B-B14F-4D97-AF65-F5344CB8AC3E}">
        <p14:creationId xmlns:p14="http://schemas.microsoft.com/office/powerpoint/2010/main" val="592635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6C07B-1F02-4B39-8323-6D56B9D8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65830-2FF4-4C86-8874-E76A05C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Результат: F1 = 96,3% на отложенной выборке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CBDA3-F74E-4014-A4BD-FF011046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354F-72F0-4F3C-8976-939904D3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B441-28CA-462C-B341-90F8A51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2"/>
                </a:solidFill>
              </a:defRPr>
            </a:pPr>
            <a:r>
              <a:rPr sz="1500" b="0">
                <a:solidFill>
                  <a:srgbClr val="5E6572"/>
                </a:solidFill>
              </a:rPr>
              <a:t>Все показатели рассчитаны только на test = 4 968 сообщений, не участвовавших в обучении.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A359E-61BE-4EA6-88EE-F9259AA9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A6801-5C31-4F7F-B22C-A8FC8BB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111318"/>
                </a:solidFill>
              </a:defRPr>
            </a:pPr>
            <a:r>
              <a:rPr sz="3375" b="1">
                <a:solidFill>
                  <a:srgbClr val="111318"/>
                </a:solidFill>
              </a:rPr>
              <a:t>97,4%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021FD-3E0D-416E-A9B3-5949FC55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72AE-0AB1-4AA7-AA64-81F54D8C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верных ответов всего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E80FB-DF96-4265-AC2B-B8C3BCD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38375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1267D-895C-48A7-B32A-4A917DF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81275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3D8DFF"/>
                </a:solidFill>
              </a:defRPr>
            </a:pPr>
            <a:r>
              <a:rPr sz="3375" b="1">
                <a:solidFill>
                  <a:srgbClr val="3D8DFF"/>
                </a:solidFill>
              </a:rPr>
              <a:t>97,6%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9AD55-A118-4ABF-9E53-419F2B0E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766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9D1E0-0F0D-4E7F-A36D-9DBD15B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386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из помеченных как spam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4D8B6-F458-46DE-88D2-E4C17B9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A940E-E4D2-4958-8F26-6EFC230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81275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E3545B"/>
                </a:solidFill>
              </a:defRPr>
            </a:pPr>
            <a:r>
              <a:rPr sz="3375" b="1">
                <a:solidFill>
                  <a:srgbClr val="E3545B"/>
                </a:solidFill>
              </a:rPr>
              <a:t>95,0%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C4C00-1903-4F3C-92EB-66BDF77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766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4EE7B-574F-4764-8BDD-93C6DC71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найдено реального spam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A0500-9078-45C3-A08C-DB64195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07327-C33C-46C3-862C-05F59E0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81275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2D9D78"/>
                </a:solidFill>
              </a:defRPr>
            </a:pPr>
            <a:r>
              <a:rPr sz="3375" b="1">
                <a:solidFill>
                  <a:srgbClr val="2D9D78"/>
                </a:solidFill>
              </a:rPr>
              <a:t>96,3%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21C66-461C-4450-8735-E1B03C0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766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0D528-BD63-4775-B9A2-B5963E49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386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баланс Precision /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CB667-8971-474B-A6CA-2E7EAAC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11239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9ED17-DD7F-4037-A64F-ADBDC2F6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Интерпретация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CAC8B-19DA-4169-BC56-6B0D4631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модель уверенно разделяет классы, но 5,0% спама в test всё ещё пропущено — именно эти ошибки приоритетны для доработки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8610053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8B1080-501C-40AE-A42F-259DA04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7A595-5340-4840-B177-6E893AD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Где модель ошибается: 127 случаев из 4 968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B4B86-FF38-451C-85FF-0DE3CEF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C6CC-DA36-484D-A89E-414A3B8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F676E-7266-41EA-88E0-8733FBEC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Матрица ошибок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5CE5D-CE51-45F6-A007-44CAD5A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34A01-600E-43BC-A3C7-FC8D543D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E90DF-7AD9-413B-BE14-996E3BA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02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1F0B5-CFF4-4DC4-ACC1-5D48CC7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Прогноз ham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7AD19-A47C-4BDF-9698-91FAA1F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DA9A0-8BE3-4C05-A3CE-590EB6BF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Прогноз spam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9D4A6-95D8-4202-ADA3-4574E6E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9CF7-8B62-4BA6-8A8D-D65D79C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Факт ham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FB16F-46D3-4AF6-9E79-0C2E684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76A4C-2ACC-4754-899D-6694C146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161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3 203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верно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5DB5B-C2ED-42C8-9034-7DDFEEDE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C20CF-CBF9-4B86-89B3-FC0B2DD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161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40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ложная тревога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A4FB3-EE51-46D7-B472-7FE212C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41677-4F2C-4404-B03C-7895FA8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Факт spam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2FA26-DB14-4154-BDB3-CF817942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C5EC8-D6D2-47D8-BBFC-2B0B4BE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161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87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пропуск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DCAAF-CE8B-46A3-AF17-2F736B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81DAB-3B2A-44C5-AC17-F2CC841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161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1 638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верно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3F464-D257-43D7-AFE1-DB41191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5048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91C82-F9B6-48A8-B76E-B4F0515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3545B"/>
                </a:solidFill>
              </a:defRPr>
            </a:pPr>
            <a:r>
              <a:rPr sz="1350" b="1">
                <a:solidFill>
                  <a:srgbClr val="E3545B"/>
                </a:solidFill>
              </a:rPr>
              <a:t>Приоритет №1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2F6FB-C479-4E84-BEE9-42322147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87 false negative: спам, который модель пропустила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F5229-920B-4E18-86C7-5761AA06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Качество по языкам (F1)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45115-8D25-4B84-ACEE-85246572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Русский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91908-05F6-463D-B419-553C51C5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76475"/>
            <a:ext cx="27146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172E3-71C1-4AEB-9F97-CA5FEEF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76475"/>
            <a:ext cx="261961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E816B-E7F2-4C55-AEC3-29328C7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28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96.5%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FD907-E6DA-4BCA-BA41-484E4F0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F96A3"/>
                </a:solidFill>
              </a:defRPr>
            </a:pPr>
            <a:r>
              <a:rPr sz="1050" b="0">
                <a:solidFill>
                  <a:srgbClr val="8F96A3"/>
                </a:solidFill>
              </a:rPr>
              <a:t>Recall 95,4% • большой реальный корпус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9C16CA-C539-4B98-8921-C9809D75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English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DB652-C335-44C2-A7CB-D677C7D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27146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07999-9DC9-4A96-BF38-7E7740AA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2540889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7A6DA-0106-46DF-A4AF-1EE76FE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718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93.6%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6E37C-BDD0-4E4F-A1DD-99B2ED3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F96A3"/>
                </a:solidFill>
              </a:defRPr>
            </a:pPr>
            <a:r>
              <a:rPr sz="1050" b="0">
                <a:solidFill>
                  <a:srgbClr val="8F96A3"/>
                </a:solidFill>
              </a:rPr>
              <a:t>Recall 90,7% • меньше spam-примеров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2AD43A-18FF-4449-B107-3349DBF0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Español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71F79B-FB37-4D42-A975-CE7AB2F2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7146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0C3EC7-94B0-44EE-8F64-6FC7D32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37529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619F2C-D1AF-477E-A634-09BDC19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148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87.5%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623AD6-C302-4DDD-B565-E9E4F3BF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910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F96A3"/>
                </a:solidFill>
              </a:defRPr>
            </a:pPr>
            <a:r>
              <a:rPr sz="1050" b="0">
                <a:solidFill>
                  <a:srgbClr val="8F96A3"/>
                </a:solidFill>
              </a:rPr>
              <a:t>Recall 77,8% • всего 87 synthetic примеров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57287C-827F-44FC-8C61-976D0582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5048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F0F321-137A-448E-B896-71BA11B5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530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Вывод: испанский язык — демонстрация интерфейса, а не доказанное качество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803918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65D745-40A8-4A04-9FFB-ED67545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BFCC-7750-46B9-883D-F755B67F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Тестирование MVP: что проверено и что ещё нужно измерить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23BEC-F58E-4A60-86C8-317A6D6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8514E-49AE-4212-A3B8-4D461B0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8F500-8403-46CC-AFC9-404C0436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429000" cy="2238375"/>
          </a:xfrm>
          <a:prstGeom xmlns:a="http://schemas.openxmlformats.org/drawingml/2006/main" prst="roundRect">
            <a:avLst>
              <a:gd name="adj" fmla="val 936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2E752-AE1C-4653-B658-47418E3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Автотесты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D11E7-970A-46A5-B197-71502C9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D9D78"/>
                </a:solidFill>
              </a:defRPr>
            </a:pPr>
            <a:r>
              <a:rPr sz="2700" b="1">
                <a:solidFill>
                  <a:srgbClr val="2D9D78"/>
                </a:solidFill>
              </a:rPr>
              <a:t>4 /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8B991-84A6-4587-BF6A-92AB9FA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Определение языка, явные spam/ham на 3 языках, сигналы риска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F1F63-C75F-4863-B88C-35F5B1E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43050"/>
            <a:ext cx="3429000" cy="2238375"/>
          </a:xfrm>
          <a:prstGeom xmlns:a="http://schemas.openxmlformats.org/drawingml/2006/main" prst="roundRect">
            <a:avLst>
              <a:gd name="adj" fmla="val 936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A92F4-5BA5-497D-B192-B51B46D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ML‑тест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FE3B6-4664-4A73-9A8E-05F08694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1932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4 968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358EB-D1DC-4B80-85DC-C40CF27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24175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Отложенных сообщений; матрица ошибок и метрики в целом и по языкам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771EB-B585-427C-9BA7-0C5A945B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3429000" cy="2238375"/>
          </a:xfrm>
          <a:prstGeom xmlns:a="http://schemas.openxmlformats.org/drawingml/2006/main" prst="roundRect">
            <a:avLst>
              <a:gd name="adj" fmla="val 9362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0248-932E-4C31-95D3-116F0072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UI smoke‑test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1A000-DF19-4029-A7BB-46FB916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1932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E59A2F"/>
                </a:solidFill>
              </a:defRPr>
            </a:pPr>
            <a:r>
              <a:rPr sz="2700" b="1">
                <a:solidFill>
                  <a:srgbClr val="E59A2F"/>
                </a:solidFill>
              </a:rPr>
              <a:t>3 состояния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1FCE8-DC9A-4002-9218-1C1EF92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572"/>
                </a:solidFill>
              </a:defRPr>
            </a:pPr>
            <a:r>
              <a:rPr sz="1200" b="0">
                <a:solidFill>
                  <a:srgbClr val="5E6572"/>
                </a:solidFill>
              </a:rPr>
              <a:t>Главный экран, результат и аналитика; исправлен KeyError sample_note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5D485-839B-4C4B-9775-20110AD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План доработок после тестов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0741A-C2C7-4FC7-98A5-948D45C7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F99E6-9D99-45BE-B795-56DE8D80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9D78"/>
                </a:solidFill>
              </a:defRPr>
            </a:pPr>
            <a:r>
              <a:rPr sz="1050" b="1">
                <a:solidFill>
                  <a:srgbClr val="2D9D78"/>
                </a:solidFill>
              </a:rPr>
              <a:t>Сейчас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8DED2-2EA0-45BE-BEF0-5187BDF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fallback для sample_note, единый русский интерфейс, стабильный рендер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A7ADF-7C72-48E9-AC67-9E3A7E7D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C2C1F-31FE-42AB-AF39-67C70A71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Следом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A8CFD-BE3E-4375-8F9D-0B262161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собрать реальные русские ошибки и настроить threshold по цене FN / FP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8376-F3BF-4CB9-80A4-949181C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340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D87E2-4D2B-48A3-B410-E7B6C589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Проверить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CDD9E-9787-4008-899D-26C98923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5 пользователей: task success ≥90%, время ≤30 с, SUS ≥70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A8A98-C7DC-41F8-9B56-FE3832E5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3545B"/>
                </a:solidFill>
              </a:defRPr>
            </a:pPr>
            <a:r>
              <a:rPr sz="1125" b="1">
                <a:solidFill>
                  <a:srgbClr val="E3545B"/>
                </a:solidFill>
              </a:rPr>
              <a:t>Важно: продуктовые метрики пользователей — целевые, а не уже полученные; реального UX‑теста пока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14841985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6916A-8A25-432C-A49D-B2CFA07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SPAMGUARD • ПРОЕКТНЫЙ ПРАКТИКУМ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CF37-27FD-45AB-9C5B-02EFB929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</a:defRPr>
            </a:pPr>
            <a:r>
              <a:rPr sz="3000" b="1">
                <a:solidFill>
                  <a:srgbClr val="111318"/>
                </a:solidFill>
              </a:rPr>
              <a:t>Итог: идея доказана на уровне учебного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184EA-E434-48AF-ABB7-C3E5885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D259F-FBF8-4D0F-9CF2-45C41327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6A3"/>
                </a:solidFill>
              </a:defRPr>
            </a:pPr>
            <a:r>
              <a:rPr sz="975" b="0">
                <a:solidFill>
                  <a:srgbClr val="8F96A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32CCB-13AD-44CD-851D-DC020A55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E3A66"/>
                </a:solidFill>
              </a:defRPr>
            </a:pPr>
            <a:r>
              <a:rPr sz="2025" b="1">
                <a:solidFill>
                  <a:srgbClr val="0E3A66"/>
                </a:solidFill>
              </a:rPr>
              <a:t>SpamGuard превращает сомнительное сообщение в понятный риск, объяснение и безопасный следующий шаг — на трёх языках и без внешнего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99409-5141-4A5A-B886-0267612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7429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37BCF-9D0D-4355-BCA2-8E41656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1D8AB-5A73-418C-B393-546818F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Идея и 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1345C-7281-4784-B916-A684A02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Проблема, портрет, конкуренты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3B38C-56F0-4003-A3B1-567344C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слайды 3–7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74C0D-0CA5-4994-857E-F41E6DA1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52775"/>
            <a:ext cx="7429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73DCA-1FAC-40C0-85B4-6F5537B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480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536B2-DCCE-44D5-961C-30D2A9A5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Техническая часть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E5B5D-4153-4F51-858C-6318140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Работающий интерфейс, данные, 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35B59-3DDE-4C64-BDA3-3B30F64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слайды 8–15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A34F2-8EAA-4623-B746-B65ED16B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7429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AB652-72F0-4B25-9814-68259EA7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8C2B8-5ED0-4F7B-8C8D-B31D6F77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Метрики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049DB-8269-471F-86D9-AD760D0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Методология, F1, ошибки, языки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BE7A2-7349-40F7-B9DD-23357B5C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слайды 16–18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EF84C-6EAF-4C7A-BAB7-A1CCD5B6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7429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97BCA-6C90-472A-A715-44EFDDD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36AA6-C903-4078-A148-11447BC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Тестирование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C08E5-E4B0-4EF6-BD7E-A0E827CF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unit, holdout, UI, план UX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59668-27BE-426A-9AFE-A858877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слайд 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52122-C27E-4674-A079-0176741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7429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BA94F-2A83-4F6B-981A-C84AD98A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8B12F-2F8D-4074-B6C3-393A5C69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Презентация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86BC3-8A4D-4120-A9AC-32B0220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572"/>
                </a:solidFill>
              </a:defRPr>
            </a:pPr>
            <a:r>
              <a:rPr sz="1275" b="0">
                <a:solidFill>
                  <a:srgbClr val="5E6572"/>
                </a:solidFill>
              </a:rPr>
              <a:t>Логика, визуализация, ограничения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A5C09-77E6-4426-9225-1BCDD39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весь документ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FED240-3E15-4C3E-932F-A01473B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11239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6ACE2-D9BA-40FF-8958-0464F321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9D78"/>
                </a:solidFill>
              </a:defRPr>
            </a:pPr>
            <a:r>
              <a:rPr sz="1350" b="1">
                <a:solidFill>
                  <a:srgbClr val="2D9D78"/>
                </a:solidFill>
              </a:rPr>
              <a:t>Следующий осмысленный шаг: собрать пользовательские ошибки и реальные испанские данные — не усложнять модель раньше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576495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2026-09-02T04:23:16.8440000Z</dcterms:created>
  <dcterms:modified xsi:type="dcterms:W3CDTF">2026-09-02T04:23:16.8440000Z</dcterms:modified>
</coreProperties>
</file>